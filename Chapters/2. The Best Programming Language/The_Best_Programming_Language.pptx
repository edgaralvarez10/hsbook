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3"/>
  </p:sldMasterIdLst>
  <p:notesMasterIdLst>
    <p:notesMasterId r:id="rId31"/>
  </p:notesMasterIdLst>
  <p:handoutMasterIdLst>
    <p:handoutMasterId r:id="rId32"/>
  </p:handoutMasterIdLst>
  <p:sldIdLst>
    <p:sldId id="289" r:id="rId4"/>
    <p:sldId id="257" r:id="rId5"/>
    <p:sldId id="258" r:id="rId6"/>
    <p:sldId id="259" r:id="rId7"/>
    <p:sldId id="260" r:id="rId8"/>
    <p:sldId id="261" r:id="rId9"/>
    <p:sldId id="285" r:id="rId10"/>
    <p:sldId id="262" r:id="rId11"/>
    <p:sldId id="263" r:id="rId12"/>
    <p:sldId id="264" r:id="rId13"/>
    <p:sldId id="266" r:id="rId14"/>
    <p:sldId id="268" r:id="rId15"/>
    <p:sldId id="267" r:id="rId16"/>
    <p:sldId id="269" r:id="rId17"/>
    <p:sldId id="270" r:id="rId18"/>
    <p:sldId id="271" r:id="rId19"/>
    <p:sldId id="287" r:id="rId20"/>
    <p:sldId id="288" r:id="rId21"/>
    <p:sldId id="265" r:id="rId22"/>
    <p:sldId id="280" r:id="rId23"/>
    <p:sldId id="275" r:id="rId24"/>
    <p:sldId id="274" r:id="rId25"/>
    <p:sldId id="286" r:id="rId26"/>
    <p:sldId id="277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0"/>
    <a:srgbClr val="00F6FF"/>
    <a:srgbClr val="B896FF"/>
    <a:srgbClr val="161616"/>
    <a:srgbClr val="2AFFCC"/>
    <a:srgbClr val="01F5FF"/>
    <a:srgbClr val="D8E763"/>
    <a:srgbClr val="DA0042"/>
    <a:srgbClr val="FF4798"/>
    <a:srgbClr val="FF4B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825" autoAdjust="0"/>
    <p:restoredTop sz="94672"/>
  </p:normalViewPr>
  <p:slideViewPr>
    <p:cSldViewPr snapToGrid="0" showGuides="1">
      <p:cViewPr varScale="1">
        <p:scale>
          <a:sx n="59" d="100"/>
          <a:sy n="59" d="100"/>
        </p:scale>
        <p:origin x="35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0AE391-5090-4A20-BB83-AE7944D757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E0C791-4472-47EB-A5D1-40410E8609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3E989-3A32-4871-848D-A577D002F4D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89C3D-9323-4256-B98A-37D9853EA9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71EE58-95EA-4121-8D8F-D9BF9D78CF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C666C-E93D-47E9-A306-F95DA55A0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9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80DEF-0AD7-4BDB-840C-61DE4010FC3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68A001-691D-41D9-91DC-B9507CB04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16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the COBOL transition it took decades, but there was no turning back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684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 no es un </a:t>
            </a:r>
            <a:r>
              <a:rPr lang="en-US" dirty="0" err="1"/>
              <a:t>comparativo</a:t>
            </a:r>
            <a:r>
              <a:rPr lang="en-US" dirty="0"/>
              <a:t> de </a:t>
            </a:r>
            <a:r>
              <a:rPr lang="en-US" dirty="0" err="1"/>
              <a:t>obsolescencia</a:t>
            </a:r>
            <a:r>
              <a:rPr lang="en-US" dirty="0"/>
              <a:t> </a:t>
            </a:r>
            <a:r>
              <a:rPr lang="en-US" dirty="0" err="1"/>
              <a:t>sino</a:t>
            </a:r>
            <a:r>
              <a:rPr lang="en-US" dirty="0"/>
              <a:t> de </a:t>
            </a:r>
            <a:r>
              <a:rPr lang="en-US" dirty="0" err="1"/>
              <a:t>actualidad</a:t>
            </a:r>
            <a:r>
              <a:rPr lang="en-US" dirty="0"/>
              <a:t>… hoy </a:t>
            </a:r>
            <a:r>
              <a:rPr lang="en-US" dirty="0" err="1"/>
              <a:t>somos</a:t>
            </a:r>
            <a:r>
              <a:rPr lang="en-US" dirty="0"/>
              <a:t> buenos </a:t>
            </a:r>
            <a:r>
              <a:rPr lang="en-US" dirty="0" err="1"/>
              <a:t>en</a:t>
            </a:r>
            <a:r>
              <a:rPr lang="en-US" dirty="0"/>
              <a:t> lo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hacemos</a:t>
            </a:r>
            <a:r>
              <a:rPr lang="en-US" dirty="0"/>
              <a:t>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llegó</a:t>
            </a:r>
            <a:r>
              <a:rPr lang="en-US" dirty="0"/>
              <a:t> algo grande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475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OJO: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compilador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hecho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399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surprise if SonarQube starts adding “Specs check” as a gate check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7653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does not create what it does not exist.</a:t>
            </a:r>
            <a:br>
              <a:rPr lang="en-US" dirty="0"/>
            </a:br>
            <a:r>
              <a:rPr lang="en-US" dirty="0"/>
              <a:t>Anything multiplied by zero still zero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8724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Conseguir</a:t>
            </a:r>
            <a:r>
              <a:rPr lang="en-US" dirty="0"/>
              <a:t> un dev COBOL es </a:t>
            </a:r>
            <a:r>
              <a:rPr lang="en-US" dirty="0" err="1"/>
              <a:t>muy</a:t>
            </a:r>
            <a:r>
              <a:rPr lang="en-US" dirty="0"/>
              <a:t> </a:t>
            </a:r>
            <a:r>
              <a:rPr lang="en-US" dirty="0" err="1"/>
              <a:t>difícil</a:t>
            </a:r>
            <a:br>
              <a:rPr lang="en-US" dirty="0"/>
            </a:br>
            <a:r>
              <a:rPr lang="en-US" dirty="0"/>
              <a:t>Las Univer </a:t>
            </a:r>
            <a:r>
              <a:rPr lang="en-US" dirty="0" err="1"/>
              <a:t>enseñarán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vez</a:t>
            </a:r>
            <a:r>
              <a:rPr lang="en-US" dirty="0"/>
              <a:t> </a:t>
            </a:r>
            <a:r>
              <a:rPr lang="en-US" dirty="0" err="1"/>
              <a:t>menos</a:t>
            </a:r>
            <a:r>
              <a:rPr lang="en-US" dirty="0"/>
              <a:t> </a:t>
            </a:r>
            <a:r>
              <a:rPr lang="en-US" dirty="0" err="1"/>
              <a:t>lenguajes</a:t>
            </a:r>
            <a:r>
              <a:rPr lang="en-US" dirty="0"/>
              <a:t> y </a:t>
            </a:r>
            <a:r>
              <a:rPr lang="en-US" dirty="0" err="1"/>
              <a:t>más</a:t>
            </a:r>
            <a:r>
              <a:rPr lang="en-US" dirty="0"/>
              <a:t> AI</a:t>
            </a:r>
            <a:br>
              <a:rPr lang="en-US" dirty="0"/>
            </a:br>
            <a:r>
              <a:rPr lang="en-US" dirty="0"/>
              <a:t>COBOL displaced Assembly, AI is displacing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955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59C2A-0FC8-422F-92E4-B92935AAE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825" y="1655821"/>
            <a:ext cx="8060366" cy="210314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8200"/>
              </a:lnSpc>
              <a:spcBef>
                <a:spcPts val="0"/>
              </a:spcBef>
              <a:defRPr sz="8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Presentation Cover with Longer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5825" y="4670399"/>
            <a:ext cx="10515600" cy="4553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2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825" y="5393921"/>
            <a:ext cx="6489700" cy="200055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rgbClr val="00F6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8D4788E-EE52-507E-7D71-0F24A4DBD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5825" y="6403340"/>
            <a:ext cx="1645920" cy="2260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kumimoji="0" lang="en-US" sz="6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EPAM Proprietary &amp; Confidential.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A3D84A-3A3E-A95D-16B1-DEAB594B0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58001" cy="241912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374159C-7297-E470-BBCD-D20C41E7AF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21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Dark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5825" y="4670399"/>
            <a:ext cx="7068944" cy="4553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2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825" y="5393921"/>
            <a:ext cx="6489700" cy="200055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rgbClr val="00F6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8D4788E-EE52-507E-7D71-0F24A4DBD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5825" y="6403340"/>
            <a:ext cx="1645920" cy="2260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kumimoji="0" lang="en-US" sz="6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EPAM Proprietary &amp; Confidential.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86B7FC-77D7-4734-103B-B7BEE343FE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825" y="1653938"/>
            <a:ext cx="8060366" cy="210314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8200"/>
              </a:lnSpc>
              <a:spcBef>
                <a:spcPts val="0"/>
              </a:spcBef>
              <a:defRPr sz="8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Presentation Cover with Longer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5FA4B-8346-1D65-A1A6-BE46B3388E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58001" cy="24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8828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Shorter_Title_Half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40E1BA6-2B94-3FB9-8A61-22A11D25EDE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123008" y="0"/>
            <a:ext cx="606899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DF60C00-4DF7-EA8B-64E5-6D8707C3F1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5825" y="4670399"/>
            <a:ext cx="5151216" cy="37253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CED6F17-ABB3-3BF2-0943-BB3D363DB3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825" y="5393921"/>
            <a:ext cx="5185941" cy="20005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rgbClr val="00F6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03242F72-C056-2877-37FC-0C0E8E2FA1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5825" y="1653938"/>
            <a:ext cx="5139642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Cover with Shorter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2237D0-4B7C-4C74-1B34-6585F8B84C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58001" cy="24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840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25" y="1350512"/>
            <a:ext cx="3594735" cy="9233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gradFill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100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4A4A7-1D42-43C4-8DAE-D39D601741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66051" y="1542286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14B7CA8-C6E3-4D9A-BDD1-5A660A9FF4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6051" y="2235353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9CF7C84-314E-4FB2-901C-E4AD0E7593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66051" y="2918259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4E24727-48EE-48AA-9B6F-F26524FCED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6051" y="3611326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8BC4A81-2FF3-4AC4-8F40-4F95105F59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66051" y="4294232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53DF3A1-A093-468B-B30D-D2DB4C1595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66051" y="4977139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3338DC0-8609-4542-8807-E7838F7CE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98342" y="1542286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3948224-37C6-4D02-AFD9-C1D88C1C07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98342" y="2235353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BDE3CEE-0230-44C2-A389-A8747AA6BB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98342" y="2918259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6BF9761-22A6-4919-B7B5-2A027DDC6D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98342" y="3611326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BA13C9B-9D26-4B3E-8215-17F0475C20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98342" y="4294232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4AC5FFC-6616-4F1B-B644-F0560ADC7E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98342" y="4977139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8522FB4-D05A-7BBC-4925-8F44384D8BAF}"/>
              </a:ext>
            </a:extLst>
          </p:cNvPr>
          <p:cNvCxnSpPr>
            <a:cxnSpLocks/>
          </p:cNvCxnSpPr>
          <p:nvPr userDrawn="1"/>
        </p:nvCxnSpPr>
        <p:spPr>
          <a:xfrm>
            <a:off x="4828321" y="204358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43E4466-9172-11FF-B631-0772F610EC0A}"/>
              </a:ext>
            </a:extLst>
          </p:cNvPr>
          <p:cNvCxnSpPr>
            <a:cxnSpLocks/>
          </p:cNvCxnSpPr>
          <p:nvPr userDrawn="1"/>
        </p:nvCxnSpPr>
        <p:spPr>
          <a:xfrm>
            <a:off x="4828321" y="2736156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39B406A-62F3-7DD2-AFDA-098BD84DC9B8}"/>
              </a:ext>
            </a:extLst>
          </p:cNvPr>
          <p:cNvCxnSpPr>
            <a:cxnSpLocks/>
          </p:cNvCxnSpPr>
          <p:nvPr userDrawn="1"/>
        </p:nvCxnSpPr>
        <p:spPr>
          <a:xfrm>
            <a:off x="4828321" y="342873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F9CE8E-C61D-47C9-7C92-80C8B9BE9261}"/>
              </a:ext>
            </a:extLst>
          </p:cNvPr>
          <p:cNvCxnSpPr>
            <a:cxnSpLocks/>
          </p:cNvCxnSpPr>
          <p:nvPr userDrawn="1"/>
        </p:nvCxnSpPr>
        <p:spPr>
          <a:xfrm>
            <a:off x="4828321" y="4121306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02BA3F-B120-FB36-1C74-89FF4B905719}"/>
              </a:ext>
            </a:extLst>
          </p:cNvPr>
          <p:cNvCxnSpPr>
            <a:cxnSpLocks/>
          </p:cNvCxnSpPr>
          <p:nvPr userDrawn="1"/>
        </p:nvCxnSpPr>
        <p:spPr>
          <a:xfrm>
            <a:off x="4828321" y="481388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E237AFC-258A-A0AE-B66B-CB1C869A2032}"/>
              </a:ext>
            </a:extLst>
          </p:cNvPr>
          <p:cNvCxnSpPr>
            <a:cxnSpLocks/>
          </p:cNvCxnSpPr>
          <p:nvPr userDrawn="1"/>
        </p:nvCxnSpPr>
        <p:spPr>
          <a:xfrm>
            <a:off x="4828321" y="551146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1899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25" y="1353882"/>
            <a:ext cx="359473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6000" b="0" dirty="0">
                <a:gradFill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100000">
                      <a:srgbClr val="B896FF"/>
                    </a:gs>
                  </a:gsLst>
                  <a:lin ang="0" scaled="0"/>
                </a:gra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F9CE8E-C61D-47C9-7C92-80C8B9BE9261}"/>
              </a:ext>
            </a:extLst>
          </p:cNvPr>
          <p:cNvCxnSpPr>
            <a:cxnSpLocks/>
          </p:cNvCxnSpPr>
          <p:nvPr userDrawn="1"/>
        </p:nvCxnSpPr>
        <p:spPr>
          <a:xfrm>
            <a:off x="4597093" y="4127679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02BA3F-B120-FB36-1C74-89FF4B905719}"/>
              </a:ext>
            </a:extLst>
          </p:cNvPr>
          <p:cNvCxnSpPr>
            <a:cxnSpLocks/>
          </p:cNvCxnSpPr>
          <p:nvPr userDrawn="1"/>
        </p:nvCxnSpPr>
        <p:spPr>
          <a:xfrm>
            <a:off x="4597093" y="4821255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E237AFC-258A-A0AE-B66B-CB1C869A2032}"/>
              </a:ext>
            </a:extLst>
          </p:cNvPr>
          <p:cNvCxnSpPr>
            <a:cxnSpLocks/>
          </p:cNvCxnSpPr>
          <p:nvPr userDrawn="1"/>
        </p:nvCxnSpPr>
        <p:spPr>
          <a:xfrm>
            <a:off x="4597093" y="5514831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F38260B-0DC8-F1D9-0A04-B34FD9548DDE}"/>
              </a:ext>
            </a:extLst>
          </p:cNvPr>
          <p:cNvCxnSpPr>
            <a:cxnSpLocks/>
          </p:cNvCxnSpPr>
          <p:nvPr userDrawn="1"/>
        </p:nvCxnSpPr>
        <p:spPr>
          <a:xfrm>
            <a:off x="4597093" y="3434103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4323139-2B65-F98E-4BA6-26EBD4E0AD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4801" y="1544424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203F9BF-BF5F-6A91-5F78-9E13CFB346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0" y="1544424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876CC08A-4820-35BC-92E1-8230BD9D360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14801" y="2237970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F7291D4C-4D95-8F05-0F5C-BA39164C82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8400" y="2237970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6CEF688-2334-22F4-39C4-5CC9525BC5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14801" y="2931516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6C7F5B96-F4B8-B78A-06A1-1387CE2660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48400" y="2931516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F2D20F35-3DAA-AC00-0D89-CD5517054A4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14801" y="3625062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7CEC68D4-F109-8967-2138-7755BCDA7F5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48400" y="3625062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9D31E2A1-E7D9-C6E2-1CAD-132E8FC150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14801" y="4318608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9FFDA3CA-2B8B-D638-20E4-71AC7A34D73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48400" y="4318608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557F9336-F799-453A-9AE4-57BF009F4E4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14801" y="5012153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3ACF06D8-4539-871E-68C7-607E709243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48400" y="5012153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040C191-15FC-CC2A-76C6-F51F8764B2F0}"/>
              </a:ext>
            </a:extLst>
          </p:cNvPr>
          <p:cNvCxnSpPr>
            <a:cxnSpLocks/>
          </p:cNvCxnSpPr>
          <p:nvPr userDrawn="1"/>
        </p:nvCxnSpPr>
        <p:spPr>
          <a:xfrm>
            <a:off x="4597093" y="2740527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2D121A1-59B7-61ED-F9B5-D7F3CF3FA035}"/>
              </a:ext>
            </a:extLst>
          </p:cNvPr>
          <p:cNvCxnSpPr>
            <a:cxnSpLocks/>
          </p:cNvCxnSpPr>
          <p:nvPr userDrawn="1"/>
        </p:nvCxnSpPr>
        <p:spPr>
          <a:xfrm>
            <a:off x="4597094" y="2046951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2562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Half_Page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25" y="1772483"/>
            <a:ext cx="3594735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41C214B-0929-47F1-0881-0584DE92D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5825" y="3939611"/>
            <a:ext cx="455453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BFE2FC0-3FA5-A96D-8741-0967434C45D8}"/>
              </a:ext>
            </a:extLst>
          </p:cNvPr>
          <p:cNvSpPr/>
          <p:nvPr userDrawn="1"/>
        </p:nvSpPr>
        <p:spPr bwMode="auto">
          <a:xfrm>
            <a:off x="7006459" y="0"/>
            <a:ext cx="1507755" cy="1507755"/>
          </a:xfrm>
          <a:prstGeom prst="ellipse">
            <a:avLst/>
          </a:prstGeom>
          <a:solidFill>
            <a:srgbClr val="B896FF"/>
          </a:solidFill>
          <a:ln>
            <a:noFill/>
          </a:ln>
          <a:effectLst>
            <a:softEdge rad="501929"/>
          </a:effectLst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44D886A-7EE9-3D61-5350-BFDC9DEF77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825" y="1335603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88388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25" y="1793240"/>
            <a:ext cx="5640805" cy="9233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0F545EE-05C3-C60B-A33C-54CA3165B8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825" y="133604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41C214B-0929-47F1-0881-0584DE92D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5825" y="3126991"/>
            <a:ext cx="455453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202904" y="0"/>
            <a:ext cx="4989095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2841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_Section_Header_Coo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3CF198-2C15-1B0B-2941-6BA5258C3280}"/>
              </a:ext>
            </a:extLst>
          </p:cNvPr>
          <p:cNvSpPr/>
          <p:nvPr userDrawn="1"/>
        </p:nvSpPr>
        <p:spPr bwMode="auto">
          <a:xfrm>
            <a:off x="620713" y="647700"/>
            <a:ext cx="10969625" cy="5562600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99000">
                <a:schemeClr val="accent2"/>
              </a:gs>
              <a:gs pos="17000">
                <a:schemeClr val="accent4">
                  <a:alpha val="79000"/>
                </a:schemeClr>
              </a:gs>
              <a:gs pos="37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83EE370-5755-0FBB-7D84-A96FB6BC63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5400" y="2977260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>
                <a:effectLst/>
              </a:rPr>
              <a:t>Section description</a:t>
            </a:r>
            <a:endParaRPr lang="en-US"/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90735A68-7AD1-6A4F-4FBB-D417739247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5240" y="1723225"/>
            <a:ext cx="9601200" cy="1212018"/>
          </a:xfrm>
          <a:prstGeom prst="rect">
            <a:avLst/>
          </a:prstGeom>
        </p:spPr>
        <p:txBody>
          <a:bodyPr/>
          <a:lstStyle>
            <a:lvl1pPr>
              <a:defRPr sz="6000">
                <a:solidFill>
                  <a:srgbClr val="000000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749C80-4012-9B9E-C0D6-07426A51EF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5400" y="132842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04B4EE-632B-DECA-21A7-CE4B30649E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3859"/>
            <a:ext cx="495300" cy="1820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4AEAE2-ED8B-F9AA-7FD1-83D75695B020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8A49E1C-D7C7-5097-0968-F987FEF5622B}"/>
              </a:ext>
            </a:extLst>
          </p:cNvPr>
          <p:cNvSpPr txBox="1">
            <a:spLocks/>
          </p:cNvSpPr>
          <p:nvPr userDrawn="1"/>
        </p:nvSpPr>
        <p:spPr>
          <a:xfrm>
            <a:off x="1135279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147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">
          <p15:clr>
            <a:srgbClr val="FBAE40"/>
          </p15:clr>
        </p15:guide>
        <p15:guide id="2" pos="3840">
          <p15:clr>
            <a:srgbClr val="FBAE40"/>
          </p15:clr>
        </p15:guide>
        <p15:guide id="4" orient="horz" pos="412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x_Section_Header_Coo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B8FFF1-7BEF-FB67-FD62-E5D324B98FDF}"/>
              </a:ext>
            </a:extLst>
          </p:cNvPr>
          <p:cNvSpPr/>
          <p:nvPr userDrawn="1"/>
        </p:nvSpPr>
        <p:spPr bwMode="auto">
          <a:xfrm>
            <a:off x="620713" y="647700"/>
            <a:ext cx="10969625" cy="5562600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99000">
                <a:schemeClr val="accent6"/>
              </a:gs>
              <a:gs pos="17000">
                <a:schemeClr val="accent4">
                  <a:alpha val="79000"/>
                </a:schemeClr>
              </a:gs>
              <a:gs pos="38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11C718F0-D4A4-9872-BDD6-D7C7A94D7E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5400" y="2977260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>
                <a:effectLst/>
              </a:rPr>
              <a:t>Section description</a:t>
            </a:r>
            <a:endParaRPr lang="en-US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7C5E3EB5-098F-0D6A-8385-E69FD287B5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5240" y="1723225"/>
            <a:ext cx="9601200" cy="1212018"/>
          </a:xfrm>
          <a:prstGeom prst="rect">
            <a:avLst/>
          </a:prstGeom>
        </p:spPr>
        <p:txBody>
          <a:bodyPr/>
          <a:lstStyle>
            <a:lvl1pPr>
              <a:defRPr sz="60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F3FBB37-F96B-0FEB-0FAA-3A60AA0265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5400" y="132842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847CF6-2723-8A78-E571-E5E1D96EE7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3859"/>
            <a:ext cx="495300" cy="1820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B1EED2-CFE5-9449-1191-B818AA5450B2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005ECF6-ECEB-D7EC-6E6C-D560F76EDB1A}"/>
              </a:ext>
            </a:extLst>
          </p:cNvPr>
          <p:cNvSpPr txBox="1">
            <a:spLocks/>
          </p:cNvSpPr>
          <p:nvPr userDrawn="1"/>
        </p:nvSpPr>
        <p:spPr>
          <a:xfrm>
            <a:off x="1135279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809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">
          <p15:clr>
            <a:srgbClr val="FBAE40"/>
          </p15:clr>
        </p15:guide>
        <p15:guide id="2" pos="3840">
          <p15:clr>
            <a:srgbClr val="FBAE40"/>
          </p15:clr>
        </p15:guide>
        <p15:guide id="4" orient="horz" pos="412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8C30E-9F31-D8F5-1E4D-396AE47857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10896600" cy="338554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38C437B2-D94C-1848-2A24-39D1B91C9C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08878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C0FA9B4-7015-F669-A684-04DBF3A802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10896600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77A3A7C-9EA1-F184-A7F0-65CDB16D77D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FC5FFC92-2965-BCAA-1CC8-1CF099E8A9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3632" y="1211252"/>
            <a:ext cx="10896600" cy="480060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Lorem ipsum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porta </a:t>
            </a:r>
            <a:r>
              <a:rPr lang="en-US" dirty="0" err="1"/>
              <a:t>duis</a:t>
            </a:r>
            <a:r>
              <a:rPr lang="en-US" dirty="0"/>
              <a:t> magna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35240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0470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00" y="1968918"/>
            <a:ext cx="10869110" cy="203132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Sometimes You Want to Use a </a:t>
            </a:r>
            <a:br>
              <a:rPr lang="en-US" dirty="0"/>
            </a:br>
            <a:r>
              <a:rPr lang="en-US" dirty="0"/>
              <a:t>Subsection Divider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41C214B-0929-47F1-0881-0584DE92D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3460" y="4784228"/>
            <a:ext cx="4757677" cy="492443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This slide can serve you well. It even has a space for a little something under the title.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0F545EE-05C3-C60B-A33C-54CA3165B8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460" y="107188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gradFill>
                  <a:gsLst>
                    <a:gs pos="0">
                      <a:srgbClr val="00FFF0"/>
                    </a:gs>
                    <a:gs pos="44000">
                      <a:srgbClr val="00F6FF"/>
                    </a:gs>
                    <a:gs pos="75000">
                      <a:srgbClr val="B896FF"/>
                    </a:gs>
                  </a:gsLst>
                  <a:lin ang="1800000" scaled="0"/>
                </a:gra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8048DD2-9EC2-D0E6-390B-D6FEF7F7E0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460" y="1563803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6A3F60-C785-55F7-FFFA-6777E5B0CF19}"/>
              </a:ext>
            </a:extLst>
          </p:cNvPr>
          <p:cNvSpPr txBox="1"/>
          <p:nvPr userDrawn="1"/>
        </p:nvSpPr>
        <p:spPr>
          <a:xfrm>
            <a:off x="905069" y="647544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5730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_Text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AB310E8-6618-FE08-E6DC-00BA11F812CC}"/>
              </a:ext>
            </a:extLst>
          </p:cNvPr>
          <p:cNvSpPr/>
          <p:nvPr userDrawn="1"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FBFAFA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rgbClr val="FBFAFA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540" y="1739153"/>
            <a:ext cx="5333999" cy="276998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Have a Big Thought That is Paired…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4201" y="1981200"/>
            <a:ext cx="4610100" cy="243938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400"/>
              </a:lnSpc>
              <a:defRPr sz="16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With a lot of supporting details.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exerci</a:t>
            </a:r>
            <a:r>
              <a:rPr lang="en-US"/>
              <a:t> </a:t>
            </a:r>
            <a:r>
              <a:rPr lang="en-US" err="1"/>
              <a:t>tation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DF0B1-39A8-66D2-5901-784B6426A5BC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3F04122-42C2-36BC-47CE-0B679AD5BEF4}"/>
              </a:ext>
            </a:extLst>
          </p:cNvPr>
          <p:cNvSpPr txBox="1">
            <a:spLocks/>
          </p:cNvSpPr>
          <p:nvPr userDrawn="1"/>
        </p:nvSpPr>
        <p:spPr>
          <a:xfrm>
            <a:off x="1135279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8B58A26-A489-E0C7-76A6-353A0E98D08D}"/>
              </a:ext>
            </a:extLst>
          </p:cNvPr>
          <p:cNvSpPr txBox="1">
            <a:spLocks/>
          </p:cNvSpPr>
          <p:nvPr userDrawn="1"/>
        </p:nvSpPr>
        <p:spPr>
          <a:xfrm>
            <a:off x="633632" y="722842"/>
            <a:ext cx="5341718" cy="3439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/>
              <a:t>Title Goes Here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24550C39-4E9B-6498-10DD-2EE07D46927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953352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_Text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3295A6AC-FD32-C87C-6A0D-33F65D81BF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713" y="1739153"/>
            <a:ext cx="5333999" cy="276998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When You Have a Big Thought That is Paired…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4201" y="1981200"/>
            <a:ext cx="4610100" cy="243938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400"/>
              </a:lnSpc>
              <a:defRPr sz="1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With a lot of supporting details.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exerci</a:t>
            </a:r>
            <a:r>
              <a:rPr lang="en-US"/>
              <a:t> </a:t>
            </a:r>
            <a:r>
              <a:rPr lang="en-US" err="1"/>
              <a:t>tation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B35227-E4B8-E7D7-CFC8-BEC6F4696E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59128"/>
            <a:ext cx="495300" cy="182096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98434BA-C643-9226-9074-622A044FDF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0713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SECTION TITLE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89EA330-0A46-587B-303A-AB92923709B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713" y="722843"/>
            <a:ext cx="3759901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200" b="1" i="0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Title with Big and Little Type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13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2_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AB310E8-6618-FE08-E6DC-00BA11F812CC}"/>
              </a:ext>
            </a:extLst>
          </p:cNvPr>
          <p:cNvSpPr/>
          <p:nvPr userDrawn="1"/>
        </p:nvSpPr>
        <p:spPr bwMode="auto">
          <a:xfrm>
            <a:off x="4383741" y="0"/>
            <a:ext cx="7808259" cy="6858000"/>
          </a:xfrm>
          <a:prstGeom prst="rect">
            <a:avLst/>
          </a:prstGeom>
          <a:solidFill>
            <a:srgbClr val="FBFAFA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rgbClr val="FBFAFA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When you just have a few sentences of type and supporting photos. </a:t>
            </a:r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47D220DB-753D-9009-E3B2-968BCB126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48600" y="948209"/>
            <a:ext cx="3695700" cy="4678080"/>
          </a:xfrm>
          <a:prstGeom prst="rect">
            <a:avLst/>
          </a:prstGeom>
        </p:spPr>
      </p:pic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93BAF3BA-506C-CEDE-31A8-0E2F7E862A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60594" y="948210"/>
            <a:ext cx="2705674" cy="21751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A3697B-75D8-F270-FA16-FF1CAED387BA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A88C32-A814-A30F-E410-D8FFB09D466B}"/>
              </a:ext>
            </a:extLst>
          </p:cNvPr>
          <p:cNvSpPr txBox="1">
            <a:spLocks/>
          </p:cNvSpPr>
          <p:nvPr userDrawn="1"/>
        </p:nvSpPr>
        <p:spPr>
          <a:xfrm>
            <a:off x="1135279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B55100E-75B5-2C7B-2A86-042FF5C3AF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611880" cy="343957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FFDB60C-4B68-3EAD-E6FA-B4039FD58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832991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2_photos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When you just have a few sentences of type and supporting photos. </a:t>
            </a:r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47D220DB-753D-9009-E3B2-968BCB126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48600" y="948209"/>
            <a:ext cx="3695700" cy="4678080"/>
          </a:xfrm>
          <a:prstGeom prst="rect">
            <a:avLst/>
          </a:prstGeom>
        </p:spPr>
      </p:pic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93BAF3BA-506C-CEDE-31A8-0E2F7E862A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60594" y="948210"/>
            <a:ext cx="2705674" cy="217516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627D40C-5450-0B96-10EC-7A6EB80673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611880" cy="343957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E4D7BC14-B8F4-8C70-3780-52E71B389E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529454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1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53C0E95-F19E-0ED7-FE2B-237DA02AA1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When you just have a few sentences of type and supporting photos. </a:t>
            </a: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96A70B9E-D366-36CB-4835-845ACD985BF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067300" y="922229"/>
            <a:ext cx="6477000" cy="4710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DE52C79-B543-C221-B6BE-B72B78C481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611880" cy="343957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0A19AA13-C08A-D0E6-EC94-5A71061E59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427794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1_Photo_Bl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53C0E95-F19E-0ED7-FE2B-237DA02AA1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When you just have a few sentences of type and supporting photos</a:t>
            </a: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96A70B9E-D366-36CB-4835-845ACD985BF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067300" y="922229"/>
            <a:ext cx="6477000" cy="4710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3930C0-6C91-A5B6-792F-04CF2D36D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611880" cy="343957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15DEBE63-B16C-3AD7-6270-ECA63D2CC6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735540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_Larg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197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rgbClr val="000000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50" y="1762728"/>
            <a:ext cx="10248900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4199F3-8BE2-BBEA-427A-5AD0BBF888B3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BDB76AC-B244-C159-B205-D8B830CCA43A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921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1_Perso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D3CE1C1-8D34-F5FB-A65B-3074985EA7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3632" y="419100"/>
            <a:ext cx="34671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SECTION TITLE</a:t>
            </a:r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3632" y="948837"/>
            <a:ext cx="3467100" cy="118128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44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</a:t>
            </a:r>
          </a:p>
          <a:p>
            <a:pPr lvl="0"/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2916936"/>
            <a:ext cx="4648200" cy="254807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2406797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13F3B94-3699-B384-69C0-18FFCB0A6F0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092952" y="0"/>
            <a:ext cx="6099048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F093B7-84AC-4D63-2502-6D71BFDF8DB8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F95B6-7091-82B3-BCAB-D9319A03C7CC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3967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1_Person_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D3CE1C1-8D34-F5FB-A65B-3074985EA7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3632" y="419100"/>
            <a:ext cx="34671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2916936"/>
            <a:ext cx="4648200" cy="254807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Leo </a:t>
            </a:r>
            <a:r>
              <a:rPr lang="en-US" dirty="0" err="1"/>
              <a:t>luctus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.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,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fermentum.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netus</a:t>
            </a:r>
            <a:r>
              <a:rPr lang="en-US" dirty="0"/>
              <a:t> magna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. Eros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at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. Leo dui </a:t>
            </a:r>
            <a:r>
              <a:rPr lang="en-US" dirty="0" err="1"/>
              <a:t>sapien</a:t>
            </a:r>
            <a:r>
              <a:rPr lang="en-US" dirty="0"/>
              <a:t>,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 Cras sit integer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Magna in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,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donec</a:t>
            </a:r>
            <a:r>
              <a:rPr lang="en-US" dirty="0"/>
              <a:t>. </a:t>
            </a:r>
            <a:r>
              <a:rPr lang="en-US" dirty="0" err="1"/>
              <a:t>Netus</a:t>
            </a:r>
            <a:r>
              <a:rPr lang="en-US" dirty="0"/>
              <a:t> diam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proin</a:t>
            </a:r>
            <a:r>
              <a:rPr lang="en-US" dirty="0"/>
              <a:t> fermentum </a:t>
            </a:r>
            <a:r>
              <a:rPr lang="en-US" dirty="0" err="1"/>
              <a:t>egestas</a:t>
            </a:r>
            <a:r>
              <a:rPr lang="en-US" dirty="0"/>
              <a:t> et </a:t>
            </a:r>
            <a:r>
              <a:rPr lang="en-US" dirty="0" err="1"/>
              <a:t>quis</a:t>
            </a:r>
            <a:r>
              <a:rPr lang="en-US" dirty="0"/>
              <a:t>. 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13F3B94-3699-B384-69C0-18FFCB0A6F0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092952" y="0"/>
            <a:ext cx="6099048" cy="6858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F33CF80-FFEB-A0A3-96C3-70C36A76E51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3632" y="948837"/>
            <a:ext cx="3467100" cy="118128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4400" b="0" i="0" spc="0">
                <a:gradFill>
                  <a:gsLst>
                    <a:gs pos="0">
                      <a:srgbClr val="00F6FF"/>
                    </a:gs>
                    <a:gs pos="57000">
                      <a:srgbClr val="00FFF0"/>
                    </a:gs>
                    <a:gs pos="100000">
                      <a:srgbClr val="B896FF"/>
                    </a:gs>
                  </a:gsLst>
                  <a:lin ang="360000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Name</a:t>
            </a:r>
          </a:p>
          <a:p>
            <a:pPr lvl="0"/>
            <a:r>
              <a:rPr lang="en-US" dirty="0" err="1">
                <a:effectLst/>
              </a:rPr>
              <a:t>Lastname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A8993B1-0A80-3A00-9ABA-D943C84F948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2406797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EB0807-0658-010A-4800-47A758C6FB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BD8A55-0F08-8A7E-D808-C2A3A3FF7E91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2F63EE3-B677-73F5-4D60-6EEFC0FE2006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8572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2_Peopl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700" y="38818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45337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C498510-4A43-03CD-36C1-2A8353B4C50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43700" y="38818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A836C28-DF9E-9EF6-F137-8474B6C084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43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A7FE39D-9B2F-3A82-4481-DEBB420622E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43700" y="45337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8A42E0B9-1EB1-1EAF-142C-C1A8686CF7F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99B77B-934C-404B-9904-C2D7E70C8905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1BBAC43-9697-89D1-1C2F-02929E0454D3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7548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2_People_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A836C28-DF9E-9EF6-F137-8474B6C084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43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8A42E0B9-1EB1-1EAF-142C-C1A8686CF7F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5AE9A1E-2209-0966-CD00-6DBDADBB195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700" y="38691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gradFill>
                  <a:gsLst>
                    <a:gs pos="0">
                      <a:srgbClr val="00F6FF"/>
                    </a:gs>
                    <a:gs pos="64000">
                      <a:srgbClr val="00FFF0"/>
                    </a:gs>
                    <a:gs pos="98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Name </a:t>
            </a:r>
            <a:r>
              <a:rPr lang="en-US" dirty="0" err="1">
                <a:effectLst/>
              </a:rPr>
              <a:t>Lastname</a:t>
            </a:r>
            <a:endParaRPr lang="en-US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70C6AC1-AA2F-89B9-2D44-315F603238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45210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29FB170-8BDC-CF05-AC75-D03AEB2228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43700" y="38691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gradFill>
                  <a:gsLst>
                    <a:gs pos="0">
                      <a:srgbClr val="00F6FF"/>
                    </a:gs>
                    <a:gs pos="64000">
                      <a:srgbClr val="00FFF0"/>
                    </a:gs>
                    <a:gs pos="98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Name </a:t>
            </a:r>
            <a:r>
              <a:rPr lang="en-US" dirty="0" err="1">
                <a:effectLst/>
              </a:rPr>
              <a:t>Lastname</a:t>
            </a:r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A3F46C9-B563-1ABE-3DDB-DDB91319FFB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43700" y="45210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903792-0661-4AB0-55E4-3A640B87ED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8702D3-DFB2-CABB-A601-21371216F8D5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878B45B-DA79-15A1-EC93-AADC579ADA4C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2773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3_Peopl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7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477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C1C1359-8F08-C0F3-2D34-47EA322BD2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CF16E01-7092-EE1E-8080-DCF72DAA24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942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CA67D79-120D-160C-DD3C-77D27D493F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942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BF8ECD0-B431-B638-27D5-32D70A5C2A1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3942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6E89CDA-AA89-1D71-39FA-7994E05AE92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942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B3BDFDF-6AC9-EF9C-D008-AB293FA5AAC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280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AF6F850E-875C-CE1C-C696-B9119881C1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280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EE0176D5-725E-3E5F-2AB8-0A9D56960DE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280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6A11A961-3944-A416-6D0E-F19285260E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280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1ABE214-CBB4-3A34-095A-0370A5C4AF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419100"/>
            <a:ext cx="34671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FF2075-AD33-0E1E-1658-146B3E4E2FCC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040519E-0144-D61F-8E0C-52A5A9F6F1D7}"/>
              </a:ext>
            </a:extLst>
          </p:cNvPr>
          <p:cNvSpPr txBox="1">
            <a:spLocks/>
          </p:cNvSpPr>
          <p:nvPr userDrawn="1"/>
        </p:nvSpPr>
        <p:spPr>
          <a:xfrm>
            <a:off x="113290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8568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3_People_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7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 flip="none" rotWithShape="1"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99000">
                      <a:srgbClr val="B896FF"/>
                    </a:gs>
                  </a:gsLst>
                  <a:lin ang="0" scaled="1"/>
                  <a:tileRect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Name </a:t>
            </a:r>
            <a:r>
              <a:rPr lang="en-US" dirty="0" err="1">
                <a:effectLst/>
              </a:rPr>
              <a:t>Lastname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477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C1C1359-8F08-C0F3-2D34-47EA322BD2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CF16E01-7092-EE1E-8080-DCF72DAA24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942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99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CA67D79-120D-160C-DD3C-77D27D493F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942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BF8ECD0-B431-B638-27D5-32D70A5C2A1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3942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6E89CDA-AA89-1D71-39FA-7994E05AE92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942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B3BDFDF-6AC9-EF9C-D008-AB293FA5AAC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280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99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AF6F850E-875C-CE1C-C696-B9119881C1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280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EE0176D5-725E-3E5F-2AB8-0A9D56960DE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280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6A11A961-3944-A416-6D0E-F19285260E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280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B18FCDA-6157-DD00-EDF9-0F787E8060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419100"/>
            <a:ext cx="34671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FD6A39-8EF9-9CA0-AA7E-45DB798A90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2309E2-3B1E-50D2-B2BC-867833D702DA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8E22721-BCDB-A1E7-59E5-A4DE62992615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4726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Large_Blac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333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50" y="1762728"/>
            <a:ext cx="10248900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4690096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Large_Black_Blu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197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SECTION TITLE</a:t>
            </a:r>
            <a:endParaRPr 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50" y="1762728"/>
            <a:ext cx="10248900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accent2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3039575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+Imag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DEA029-C2BF-93AE-56B7-39E611F58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E4D0B811-ED8A-9D55-BC17-49A339380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1684" y="1455006"/>
            <a:ext cx="6452616" cy="221599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600" b="1" i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slightly longer quote. Sometimes you need to add a slightly longer quote.”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15767D7-CA92-A238-92D2-5F669365D4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1683" y="4434840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3D416F1-8A75-DCD6-2A1A-B16BE09ABC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34347" y="1562100"/>
            <a:ext cx="3726051" cy="4100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EB1EBBF-7474-72D1-50C0-54A45DCBFB2E}"/>
              </a:ext>
            </a:extLst>
          </p:cNvPr>
          <p:cNvSpPr txBox="1">
            <a:spLocks/>
          </p:cNvSpPr>
          <p:nvPr userDrawn="1"/>
        </p:nvSpPr>
        <p:spPr>
          <a:xfrm>
            <a:off x="4772719" y="1455006"/>
            <a:ext cx="294582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rgbClr val="000000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6F9EF5-29E8-93D3-E218-354474130A6A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E1A170-BC35-F789-C222-B52ABECE94F7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FEC108-AFBF-BADD-5D48-8FC6C3718F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197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tx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SECTION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3276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+Image_Blac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8122" y="420624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E4D0B811-ED8A-9D55-BC17-49A339380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1684" y="1455006"/>
            <a:ext cx="6452616" cy="221599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slightly longer quote. Sometimes you need to add a slightly longer quote.”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15767D7-CA92-A238-92D2-5F669365D4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1683" y="4434840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3D416F1-8A75-DCD6-2A1A-B16BE09ABC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34347" y="1562100"/>
            <a:ext cx="3726051" cy="4100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EB1EBBF-7474-72D1-50C0-54A45DCBFB2E}"/>
              </a:ext>
            </a:extLst>
          </p:cNvPr>
          <p:cNvSpPr txBox="1">
            <a:spLocks/>
          </p:cNvSpPr>
          <p:nvPr userDrawn="1"/>
        </p:nvSpPr>
        <p:spPr>
          <a:xfrm>
            <a:off x="4772719" y="1455006"/>
            <a:ext cx="294582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rgbClr val="000000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7749700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+Image_Black_Blu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8122" y="420624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E4D0B811-ED8A-9D55-BC17-49A339380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1684" y="1455006"/>
            <a:ext cx="6452616" cy="221599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slightly longer quote. Sometimes you need to add a slightly longer quote.”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15767D7-CA92-A238-92D2-5F669365D4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1683" y="4434840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3D416F1-8A75-DCD6-2A1A-B16BE09ABC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34347" y="1562100"/>
            <a:ext cx="3726051" cy="4100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EB1EBBF-7474-72D1-50C0-54A45DCBFB2E}"/>
              </a:ext>
            </a:extLst>
          </p:cNvPr>
          <p:cNvSpPr txBox="1">
            <a:spLocks/>
          </p:cNvSpPr>
          <p:nvPr userDrawn="1"/>
        </p:nvSpPr>
        <p:spPr>
          <a:xfrm>
            <a:off x="4772719" y="1455006"/>
            <a:ext cx="294582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rgbClr val="000000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492201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mal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455701-65C9-97B2-64E0-82F53FA377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14501"/>
            <a:ext cx="10896600" cy="480060"/>
          </a:xfrm>
          <a:prstGeom prst="rect">
            <a:avLst/>
          </a:prstGeom>
        </p:spPr>
        <p:txBody>
          <a:bodyPr/>
          <a:lstStyle>
            <a:lvl1pPr>
              <a:defRPr sz="18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F93B36D-BA2E-1899-D9F4-FEAD1083B61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632" y="2252472"/>
            <a:ext cx="10896600" cy="1136904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When you just have a bunch of type and don’t want to try too hard. Lorem ipsum diam fames </a:t>
            </a:r>
            <a:r>
              <a:rPr lang="en-US" dirty="0" err="1"/>
              <a:t>augue</a:t>
            </a:r>
            <a:r>
              <a:rPr lang="en-US" dirty="0"/>
              <a:t> in </a:t>
            </a:r>
            <a:r>
              <a:rPr lang="en-US" dirty="0" err="1"/>
              <a:t>habitasse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porta,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eros mi </a:t>
            </a:r>
            <a:r>
              <a:rPr lang="en-US" dirty="0" err="1"/>
              <a:t>maecenas</a:t>
            </a:r>
            <a:r>
              <a:rPr lang="en-US" dirty="0"/>
              <a:t> ligula magna,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porta </a:t>
            </a:r>
            <a:r>
              <a:rPr lang="en-US" dirty="0" err="1"/>
              <a:t>duis</a:t>
            </a:r>
            <a:r>
              <a:rPr lang="en-US" dirty="0"/>
              <a:t> magna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gravida </a:t>
            </a:r>
            <a:r>
              <a:rPr lang="en-US" dirty="0" err="1"/>
              <a:t>molestie</a:t>
            </a:r>
            <a:r>
              <a:rPr lang="en-US" dirty="0"/>
              <a:t> a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 per, eros sit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tempus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dolor ac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, </a:t>
            </a:r>
            <a:r>
              <a:rPr lang="en-US" dirty="0" err="1"/>
              <a:t>vivamus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libero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elementum</a:t>
            </a:r>
            <a:r>
              <a:rPr lang="en-US" dirty="0"/>
              <a:t> </a:t>
            </a:r>
            <a:r>
              <a:rPr lang="en-US" dirty="0" err="1"/>
              <a:t>etiam</a:t>
            </a:r>
            <a:r>
              <a:rPr lang="en-US" dirty="0"/>
              <a:t> lorem cursus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curae</a:t>
            </a: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vestibulum </a:t>
            </a:r>
            <a:r>
              <a:rPr lang="en-US" dirty="0" err="1"/>
              <a:t>eu</a:t>
            </a:r>
            <a:r>
              <a:rPr lang="en-US" dirty="0"/>
              <a:t> ac integer, </a:t>
            </a:r>
            <a:r>
              <a:rPr lang="en-US" dirty="0" err="1"/>
              <a:t>tellus</a:t>
            </a:r>
            <a:r>
              <a:rPr lang="en-US" dirty="0"/>
              <a:t> pharetra </a:t>
            </a:r>
            <a:r>
              <a:rPr lang="en-US" dirty="0" err="1"/>
              <a:t>dictumst</a:t>
            </a:r>
            <a:r>
              <a:rPr lang="en-US" dirty="0"/>
              <a:t>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ad </a:t>
            </a:r>
            <a:r>
              <a:rPr lang="en-US" dirty="0" err="1"/>
              <a:t>facilisis</a:t>
            </a:r>
            <a:r>
              <a:rPr lang="en-US" dirty="0"/>
              <a:t>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7BD50B6-BCAD-6C1D-94E4-391D6EFEDE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68B922CD-AA98-19C2-F226-24D0CD58A7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5982113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-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959DAE7-B533-7C26-06A9-299565EE084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632" y="1448687"/>
            <a:ext cx="10877993" cy="480060"/>
          </a:xfrm>
          <a:prstGeom prst="rect">
            <a:avLst/>
          </a:prstGeom>
        </p:spPr>
        <p:txBody>
          <a:bodyPr/>
          <a:lstStyle>
            <a:lvl1pPr>
              <a:defRPr sz="18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Lorem ipsum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porta </a:t>
            </a:r>
            <a:r>
              <a:rPr lang="en-US" dirty="0" err="1"/>
              <a:t>duis</a:t>
            </a:r>
            <a:r>
              <a:rPr lang="en-US" dirty="0"/>
              <a:t> magna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AC9E8CA-88FF-A7D0-4471-3E5178A6D7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C5A5532C-1A44-601F-63DE-35FE9E5CCF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836754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F0AAB83-32F0-44B8-4EEF-5A03F77A7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2698291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Leo </a:t>
            </a:r>
            <a:r>
              <a:rPr lang="en-US" dirty="0" err="1"/>
              <a:t>luctus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.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,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fermentum.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netus</a:t>
            </a:r>
            <a:r>
              <a:rPr lang="en-US" dirty="0"/>
              <a:t> magna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. Eros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at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.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52600"/>
            <a:ext cx="4648200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porta.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D5963C9-D5D1-84E3-AF7B-5BFA6D21DC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72784" y="2698291"/>
            <a:ext cx="4648200" cy="177862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205CA7F-D6DB-04A0-EA4C-4787388D35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2784" y="1752600"/>
            <a:ext cx="4648200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148D1E8-D0B5-5F4B-AE07-155B7CAD85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3789B724-DDDF-4B41-E38D-8AA4A3E54FE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364899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ubsection_Divider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F0AAB83-32F0-44B8-4EEF-5A03F77A7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Lorem ipsum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eros mi </a:t>
            </a:r>
            <a:r>
              <a:rPr lang="en-US" dirty="0" err="1"/>
              <a:t>maecenas</a:t>
            </a:r>
            <a:r>
              <a:rPr lang="en-US" dirty="0"/>
              <a:t> ligula magna,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porta </a:t>
            </a:r>
            <a:r>
              <a:rPr lang="en-US" dirty="0" err="1"/>
              <a:t>duis</a:t>
            </a:r>
            <a:r>
              <a:rPr lang="en-US" dirty="0"/>
              <a:t> magna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gravida </a:t>
            </a:r>
            <a:r>
              <a:rPr lang="en-US" dirty="0" err="1"/>
              <a:t>molestie</a:t>
            </a:r>
            <a:r>
              <a:rPr lang="en-US" dirty="0"/>
              <a:t> a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 per, eros sit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tempus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dolor ac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, </a:t>
            </a:r>
            <a:r>
              <a:rPr lang="en-US" dirty="0" err="1"/>
              <a:t>vivamus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libero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elementum</a:t>
            </a:r>
            <a:r>
              <a:rPr lang="en-US" dirty="0"/>
              <a:t> </a:t>
            </a:r>
            <a:r>
              <a:rPr lang="en-US" dirty="0" err="1"/>
              <a:t>etiam</a:t>
            </a:r>
            <a:r>
              <a:rPr lang="en-US" dirty="0"/>
              <a:t> lorem cursus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curae</a:t>
            </a: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9369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1F377A5-B459-0F7C-7F34-FEF9D76152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9369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FE36997-E074-D0DA-66D5-F4724D23BF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5035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63741EA-6845-0A00-EAE0-5F35986A0EC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5035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9C198DC-372C-F60D-2583-3EEDD5323B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8380D62-CB6C-B373-E0E2-D002F4BD4CC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242927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+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F0AAB83-32F0-44B8-4EEF-5A03F77A7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4671155"/>
            <a:ext cx="3346076" cy="152214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388052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4DF3F84-AB7D-CCBF-CE9C-8622CDB3301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3632" y="1726692"/>
            <a:ext cx="3361476" cy="19171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5B9E3B6-606B-4386-3178-88031FBF911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95217" y="4671155"/>
            <a:ext cx="3346076" cy="152214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3A954E-DE2D-00F0-C4ED-0008C326EC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95217" y="388052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97F8596-9B60-0E1E-695B-F159BEA9E3D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395216" y="1726692"/>
            <a:ext cx="3361476" cy="19171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BB6C83D-C556-0782-5061-97C7DD672F2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41209" y="4671155"/>
            <a:ext cx="3346076" cy="152214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4D25C29-AD3E-1278-B083-FCE0D454015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41209" y="388052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66AB8C86-9C9A-0BF1-5545-731713F1DF9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141208" y="1726692"/>
            <a:ext cx="3361476" cy="19171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4A73F49-D1D2-3CD7-931A-C196B52C79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851B6335-94C2-4FFE-338B-28D29593A57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18547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ubsection_Divider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9369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1F377A5-B459-0F7C-7F34-FEF9D76152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9369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FE36997-E074-D0DA-66D5-F4724D23BF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5035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63741EA-6845-0A00-EAE0-5F35986A0EC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5035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CA9DA82-9FD9-26A5-10CB-6B8054B04BB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3632" y="2682874"/>
            <a:ext cx="3363468" cy="303517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2B70457-B389-D08A-D7A4-A322C74C9D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E35E41E-9E5E-2B45-2AC0-EB66F1702EC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09876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632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Lorem ipsum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eros mi </a:t>
            </a:r>
            <a:r>
              <a:rPr lang="en-US" dirty="0" err="1"/>
              <a:t>maecenas</a:t>
            </a:r>
            <a:r>
              <a:rPr lang="en-US" dirty="0"/>
              <a:t> ligula magna,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porta </a:t>
            </a:r>
            <a:r>
              <a:rPr lang="en-US" dirty="0" err="1"/>
              <a:t>duis</a:t>
            </a:r>
            <a:r>
              <a:rPr lang="en-US" dirty="0"/>
              <a:t> magna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gravida </a:t>
            </a:r>
            <a:r>
              <a:rPr lang="en-US" dirty="0" err="1"/>
              <a:t>molestie</a:t>
            </a:r>
            <a:r>
              <a:rPr lang="en-US" dirty="0"/>
              <a:t> a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 per, eros sit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tempus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dolor ac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, </a:t>
            </a:r>
            <a:r>
              <a:rPr lang="en-US" dirty="0" err="1"/>
              <a:t>vivamus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libero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elementum</a:t>
            </a:r>
            <a:r>
              <a:rPr lang="en-US" dirty="0"/>
              <a:t> </a:t>
            </a:r>
            <a:r>
              <a:rPr lang="en-US" dirty="0" err="1"/>
              <a:t>etiam</a:t>
            </a:r>
            <a:r>
              <a:rPr lang="en-US" dirty="0"/>
              <a:t> lorem cursus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curae</a:t>
            </a: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.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1E07365-191F-2AEF-D8B3-0E6070334B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53384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13B958-0014-5BD7-06FC-5AD3F29668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53384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338E16-D20C-B7FA-8AC3-9C439351E1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72784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6B141DB-BB5A-9CCF-6E8E-737B235FA2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72784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A66D88E-80F4-1365-4E17-69F78707BE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55608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DAFD4C9-E6EA-68B1-AE47-8BEF8A00F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055608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7CED83E-2EFF-B95A-4339-1971DE1A2C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4163DC51-3FE7-871F-8D9B-C299CFC5F28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80214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1757" y="3162245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Lorem ipsum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eros mi </a:t>
            </a:r>
            <a:r>
              <a:rPr lang="en-US" dirty="0" err="1"/>
              <a:t>maecenas</a:t>
            </a:r>
            <a:r>
              <a:rPr lang="en-US" dirty="0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1757" y="3892444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CA9DA82-9FD9-26A5-10CB-6B8054B04BB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1757" y="1491333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1E07365-191F-2AEF-D8B3-0E6070334B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41509" y="3162245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13B958-0014-5BD7-06FC-5AD3F29668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41509" y="3892444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5D3BEB48-F134-5C30-6B6D-9CE9C41CC7F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441509" y="1491333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338E16-D20C-B7FA-8AC3-9C439351E1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37159" y="3162245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6B141DB-BB5A-9CCF-6E8E-737B235FA2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37159" y="3892444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BA6217C-C15D-5705-1523-51C7EE9D274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237159" y="1491333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A66D88E-80F4-1365-4E17-69F78707BE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55608" y="3162245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DAFD4C9-E6EA-68B1-AE47-8BEF8A00F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055608" y="3892444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FD9B17-7D3A-73D7-A51D-A3A5FF8DA3BC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055608" y="1491333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9BFC9F-EE6C-AEB4-97F1-A5CE2C4BA2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F7669829-F3A9-621E-9905-791E46E27BD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7914803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varied_bl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Purple Blur&#10;">
            <a:extLst>
              <a:ext uri="{FF2B5EF4-FFF2-40B4-BE49-F238E27FC236}">
                <a16:creationId xmlns:a16="http://schemas.microsoft.com/office/drawing/2014/main" id="{20858E9A-CB5D-190B-E115-D040F11CFF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560136"/>
            <a:ext cx="1488559" cy="2713074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700596"/>
            <a:ext cx="2616200" cy="26050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28666" y="1286134"/>
            <a:ext cx="3923414" cy="43703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D0AD93E-4D95-4081-4F15-A8D7B51D25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64546" y="2179896"/>
            <a:ext cx="2179638" cy="26146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56651" y="1775084"/>
            <a:ext cx="2835349" cy="3413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21" name="Picture 20" descr="Purple blur&#10;">
            <a:extLst>
              <a:ext uri="{FF2B5EF4-FFF2-40B4-BE49-F238E27FC236}">
                <a16:creationId xmlns:a16="http://schemas.microsoft.com/office/drawing/2014/main" id="{FC072D8F-9413-C0EE-DD0E-94A9EA142E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9200" y="0"/>
            <a:ext cx="1260401" cy="126040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D6477BC-51B4-390A-0147-95CB7052C8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15F930C-ED21-E214-FA54-5737DC24138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261191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vari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700596"/>
            <a:ext cx="2616200" cy="26050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28666" y="1286134"/>
            <a:ext cx="3923414" cy="43703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D0AD93E-4D95-4081-4F15-A8D7B51D25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64546" y="2179896"/>
            <a:ext cx="2179638" cy="26146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56651" y="1775084"/>
            <a:ext cx="2835349" cy="3413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75F403F-1791-E454-1EF7-19537E5F09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D955803-2C5C-0B5F-11E5-5F0FBB37EAD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440916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49015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36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36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27EC50B-97F1-95B1-1645-215DA9E1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31287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DB968DD-CEBD-F381-301F-90981E0D721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31287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098032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55DC887-581D-F1A6-AE8A-07BF09DACBF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147048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515863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515863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603488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03488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665614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B84B59E6-DB3C-524C-C721-DF0AEF48CED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22920" y="1"/>
            <a:ext cx="406908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1"/>
            <a:ext cx="406908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D40E92CB-4429-D81E-AE0E-74FA641AF1D7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061460" y="1"/>
            <a:ext cx="406908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36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36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A1F11A-7C19-9AF1-8D46-17DC6138F66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584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210FF0E1-8D9D-EEE3-60BA-CF73F351DF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584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565875D-645C-4E8A-84A9-85DA3A7C6D3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4970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206FED9F-44EA-A943-059C-C15E1B5FC86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4970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6611826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-1" y="1"/>
            <a:ext cx="611293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C7F119B1-945E-DB84-8CCC-48ECFF66E18A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079067" y="1"/>
            <a:ext cx="611293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8D26C75-51C3-5A6C-E9B2-8C5ED2E7DC3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43701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CE14F46-9EA2-9FF5-00DF-32589A51A58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43701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7638382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49015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8232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8232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27EC50B-97F1-95B1-1645-215DA9E1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1630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DB968DD-CEBD-F381-301F-90981E0D721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1630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098032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55DC887-581D-F1A6-AE8A-07BF09DACBF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147048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454013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454013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5515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5515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42550254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12">
            <a:extLst>
              <a:ext uri="{FF2B5EF4-FFF2-40B4-BE49-F238E27FC236}">
                <a16:creationId xmlns:a16="http://schemas.microsoft.com/office/drawing/2014/main" id="{8CEB80F1-2238-7003-E60A-777E8870D8CA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22920" y="1"/>
            <a:ext cx="4069080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Picture Placeholder 12">
            <a:extLst>
              <a:ext uri="{FF2B5EF4-FFF2-40B4-BE49-F238E27FC236}">
                <a16:creationId xmlns:a16="http://schemas.microsoft.com/office/drawing/2014/main" id="{081F6261-AB67-5FCE-B3A8-35604F14E2A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1"/>
            <a:ext cx="4069080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7" name="Picture Placeholder 12">
            <a:extLst>
              <a:ext uri="{FF2B5EF4-FFF2-40B4-BE49-F238E27FC236}">
                <a16:creationId xmlns:a16="http://schemas.microsoft.com/office/drawing/2014/main" id="{B960C74D-5AC8-20B0-B8EC-5A82F42EEBC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061460" y="1"/>
            <a:ext cx="4069080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1E694EF9-63E8-2DD1-855D-8226F0B9D7E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2582" y="5230368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0AC54D94-5550-35E2-9CBB-6380D1A0559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52582" y="5620940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1174A8AE-15FF-5BDD-7685-4FAF6EF23C5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767382" y="5233641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8D7025AF-5AD5-E053-39A9-A1C9947284B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67382" y="5620940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A5C5A44C-A29D-3C27-3B25-9F14C1ECA7B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05982" y="5233641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1BF15487-07BD-CB9A-E6A8-536C7BB5ED6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05982" y="5620940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3038937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-2" y="1"/>
            <a:ext cx="6117336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223588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610887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C7F119B1-945E-DB84-8CCC-48ECFF66E18A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079066" y="1"/>
            <a:ext cx="6117336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8D26C75-51C3-5A6C-E9B2-8C5ED2E7DC3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43701" y="5223588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CE14F46-9EA2-9FF5-00DF-32589A51A58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43701" y="5610887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8856268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1385887"/>
            <a:ext cx="3044952" cy="33432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49015" y="1"/>
            <a:ext cx="3044952" cy="397192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5642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5642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27EC50B-97F1-95B1-1645-215DA9E1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33267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DB968DD-CEBD-F381-301F-90981E0D721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33267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098032" y="1000125"/>
            <a:ext cx="3044952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55DC887-581D-F1A6-AE8A-07BF09DACBF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147048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817843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17843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905468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905468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33749459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414713" y="1"/>
            <a:ext cx="5372099" cy="397192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803132" y="1000125"/>
            <a:ext cx="3388868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6250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250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21751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21751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0892A38E-DB30-CF79-A5B5-0EC6FE038B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0" y="1000125"/>
            <a:ext cx="3388868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079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381500" y="0"/>
            <a:ext cx="7810500" cy="49445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881034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881034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0892A38E-DB30-CF79-A5B5-0EC6FE038B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0" y="915459"/>
            <a:ext cx="4381500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9307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55255" y="1819274"/>
            <a:ext cx="2616200" cy="26050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404812"/>
            <a:ext cx="3779476" cy="421005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D0AD93E-4D95-4081-4F15-A8D7B51D25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58363" y="1484311"/>
            <a:ext cx="2329046" cy="26146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47234" y="893762"/>
            <a:ext cx="2835349" cy="37211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9BD9240-DA34-2B4B-C18E-E31B5F3E26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7999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FFB4A-48ED-CC59-1A90-5722D0CADC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7999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97C5544-D8B2-9AE0-9BC4-AF92DF9C6A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23233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4662A9F-9217-54A8-5072-93ABC9E8D41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23233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8473845-42B3-319E-BAD5-25FF29ECDA2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816979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087191E-6D99-69DB-18A5-0987DC62F1F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16979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1B4FCF2-6DDE-B735-E462-BA93B8E8456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753600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B0E7436-EC01-5BA6-ACB7-295FD0FD554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753600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51926663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614488"/>
            <a:ext cx="3357562" cy="280987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71874" y="404812"/>
            <a:ext cx="5100639" cy="421005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58250" y="893762"/>
            <a:ext cx="3333750" cy="35353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9BD9240-DA34-2B4B-C18E-E31B5F3E26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7999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FFB4A-48ED-CC59-1A90-5722D0CADC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7999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97C5544-D8B2-9AE0-9BC4-AF92DF9C6A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86731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4662A9F-9217-54A8-5072-93ABC9E8D41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86731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1B4FCF2-6DDE-B735-E462-BA93B8E8456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154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B0E7436-EC01-5BA6-ACB7-295FD0FD554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154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90178386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7248E6C1-AD8D-259C-5340-56A8EC44534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381500" y="419100"/>
            <a:ext cx="7810500" cy="43730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9A18AC36-E872-0FBB-CCDF-E7487C47BED8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0" y="915459"/>
            <a:ext cx="4114800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AD4E9A13-72EC-7795-6682-8E9D5F88478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1934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AE7E2F1-8A7E-2749-7C23-12A180BF0CB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51934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629CAEA-5BAE-C2BF-C737-48B738207AB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881034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58F9ED73-42C5-93DF-AE80-AD7C5AF1BD6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881034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7233316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6022081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2835445" y="3152602"/>
            <a:ext cx="6858002" cy="55279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C24334-259C-B34A-CF0B-6328CEB75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4EEC63-D2A6-A479-4356-E9E6BC1909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465115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B2245E5-D2EB-1450-FEC1-6BEFE1F76A4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465115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260820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9D76B9-5EAA-9E63-4059-21E83CD46A10}"/>
              </a:ext>
            </a:extLst>
          </p:cNvPr>
          <p:cNvSpPr/>
          <p:nvPr userDrawn="1"/>
        </p:nvSpPr>
        <p:spPr bwMode="auto">
          <a:xfrm>
            <a:off x="9753600" y="0"/>
            <a:ext cx="24384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2DA15A-8BB1-B824-E7EF-8D9046513FB2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9A158B8-5C5D-7C73-B048-F98B170D7851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6773BA-924B-BAC6-7D25-ED7A9338BD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839765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12B58C1F-15E1-403E-C8DD-FB7FA7791D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839765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3367182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43804D-BD14-08D3-2752-570DB2A13AC1}"/>
              </a:ext>
            </a:extLst>
          </p:cNvPr>
          <p:cNvSpPr/>
          <p:nvPr userDrawn="1"/>
        </p:nvSpPr>
        <p:spPr bwMode="auto">
          <a:xfrm>
            <a:off x="7848600" y="0"/>
            <a:ext cx="434826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E35CB-4416-67B4-9A4B-0412315D4979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57818-3DD1-DA7E-0C01-8FA58F5B3AE9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3EB2ABD-8C1A-2F57-ED12-4A5372D242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6522818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CBC5A8B-D655-9D1E-4EAD-6B7EF3CBD7B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6522818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751340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802983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7D9537-B25D-7D96-9993-3FD73B2FDB2F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C1EAE48-670D-1E75-E1E5-6E8259532FEE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04B8001-80C4-3060-BD6B-437632BF7C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465115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73C2D60-2316-60E7-7382-870EBF68A7A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465115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22995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CF38BD-32C9-894D-AB81-415CC476EC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A8AE99-B517-8AEB-D5E4-B09D52CA25AF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20F32B-02B9-F0A1-D25E-DE2CDA7F43C0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1749E3-2785-6125-72F4-4CB2CF3888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465115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F8F30B81-156F-78DF-062D-E4DD7907F0C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465115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95498245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4381500" y="0"/>
            <a:ext cx="781049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81500" y="0"/>
            <a:ext cx="7810500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76621A-DBD8-0204-830A-B611F2C50DB3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F4A5E9B-ED60-9026-0304-CC0E0C50B0BB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A259D8-8F7C-0047-F26B-69BFCE9B0D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477993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524263F-D90D-573F-672D-5622B33EAD0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3477993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366040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_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52DE14-65C1-7956-7013-27CD9E260F56}"/>
              </a:ext>
            </a:extLst>
          </p:cNvPr>
          <p:cNvSpPr/>
          <p:nvPr userDrawn="1"/>
        </p:nvSpPr>
        <p:spPr bwMode="auto">
          <a:xfrm>
            <a:off x="0" y="0"/>
            <a:ext cx="24384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9C365B7-BDA2-A1BA-99C3-FAE4F63E617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65652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 dirty="0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9CE349-346A-D8D6-57AD-5723D88B67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851" y="6416865"/>
            <a:ext cx="488145" cy="17946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9E35029-5964-C030-FE93-F157EF1D672E}"/>
              </a:ext>
            </a:extLst>
          </p:cNvPr>
          <p:cNvSpPr txBox="1">
            <a:spLocks/>
          </p:cNvSpPr>
          <p:nvPr userDrawn="1"/>
        </p:nvSpPr>
        <p:spPr>
          <a:xfrm>
            <a:off x="4365652" y="1688770"/>
            <a:ext cx="3474720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2200" b="1" i="0" spc="0" dirty="0">
                <a:gradFill>
                  <a:gsLst>
                    <a:gs pos="0">
                      <a:schemeClr val="accent3"/>
                    </a:gs>
                    <a:gs pos="45000">
                      <a:schemeClr val="accent3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06057005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0" y="0"/>
            <a:ext cx="3429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429000" y="0"/>
            <a:ext cx="8763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C0D0B5-8985-C0CF-E031-72C099F136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0" y="6416865"/>
            <a:ext cx="488145" cy="17946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44169FF-3519-85C9-0F2D-26C1E7EAB3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2618014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E92AB95-E16F-C12B-B3CB-DCDED8BB72C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2618014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4431110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4354513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D0723C-92A3-529E-5B7C-80EDBC2622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0" y="6416865"/>
            <a:ext cx="488145" cy="17946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80312C7-4EE9-90CF-47E1-087BF0744B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3474720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B4920DC-0C83-DBD1-A7BA-450D741C9E1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47472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094071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_Mockup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CA393A3-BED5-A4B8-2CC9-68028E8F7DD4}"/>
              </a:ext>
            </a:extLst>
          </p:cNvPr>
          <p:cNvSpPr/>
          <p:nvPr userDrawn="1"/>
        </p:nvSpPr>
        <p:spPr bwMode="auto">
          <a:xfrm>
            <a:off x="0" y="0"/>
            <a:ext cx="715645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B52ADC-08BB-44B3-7F3D-505CD63B75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73605A9-1E62-45FD-73A7-1EA66A44C7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3474720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0308101-6824-4317-B732-39B094E4FA5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47472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8885966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FD4578C-8BBA-DD7F-1D7F-67C3334C400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33642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947453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5015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148705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77836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2B93596-9EFA-D1CF-1891-B79E8C1342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08594" y="1585875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For more information, contact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DC7A20-9DDC-243D-12E0-D419647A67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08594" y="2359058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Name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BB83A-8F61-9449-F88A-D14428FB92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08594" y="2744373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Position title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28CEB9B-E281-2F84-4094-6D6C75AE16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08594" y="327345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Insert email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B5D4FBD-9119-A47E-823E-8468ED6CF4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08594" y="356038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+1 000 000 000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67B81F6-EE7E-69A9-E411-F7C5230340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08594" y="4117149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Address Line 1</a:t>
            </a:r>
          </a:p>
          <a:p>
            <a:r>
              <a:rPr lang="en-US"/>
              <a:t>Address Line 2</a:t>
            </a:r>
          </a:p>
          <a:p>
            <a:r>
              <a:rPr lang="en-US"/>
              <a:t>Zip Code</a:t>
            </a:r>
          </a:p>
          <a:p>
            <a:r>
              <a:rPr lang="en-US"/>
              <a:t>Country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7D40B0A2-8366-4164-6D42-A15D2F6F57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1353882"/>
            <a:ext cx="4220135" cy="110799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7200" b="0" i="0">
                <a:gradFill>
                  <a:gsLst>
                    <a:gs pos="0">
                      <a:srgbClr val="00F6FF"/>
                    </a:gs>
                    <a:gs pos="56000">
                      <a:srgbClr val="00FFF0"/>
                    </a:gs>
                    <a:gs pos="100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Thank you!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A2464A-FAB8-9787-5897-30B871357252}"/>
              </a:ext>
            </a:extLst>
          </p:cNvPr>
          <p:cNvCxnSpPr>
            <a:cxnSpLocks/>
          </p:cNvCxnSpPr>
          <p:nvPr userDrawn="1"/>
        </p:nvCxnSpPr>
        <p:spPr>
          <a:xfrm>
            <a:off x="6008594" y="1981200"/>
            <a:ext cx="624840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54425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C4526B2C-80FA-F150-338B-DB03C5073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1035424"/>
            <a:ext cx="4648200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7200" b="0">
                <a:gradFill>
                  <a:gsLst>
                    <a:gs pos="0">
                      <a:srgbClr val="00F6FF"/>
                    </a:gs>
                    <a:gs pos="56000">
                      <a:srgbClr val="00FFF0"/>
                    </a:gs>
                    <a:gs pos="100000">
                      <a:srgbClr val="B896FF"/>
                    </a:gs>
                  </a:gsLst>
                  <a:lin ang="0" scaled="0"/>
                </a:gradFill>
              </a:defRPr>
            </a:lvl1pPr>
          </a:lstStyle>
          <a:p>
            <a:pPr lvl="0"/>
            <a:r>
              <a:rPr lang="en-US" dirty="0"/>
              <a:t>Thank you!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AF9CC8A-BAB0-4529-6083-A3D7F01CE4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7700" y="2540616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For more information, contact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054708-622B-37B7-6E33-486A71C952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7700" y="3313799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Name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56D2A3F-CCA1-F399-D035-1BB32FED63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3672220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Position title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50C7B71-5C80-8C3A-B66C-42F7296EB9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7700" y="420130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Insert email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BFDDCB6-69BB-2359-40AB-46BA1DA744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700" y="448823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+1 000 000 000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D16F9E7-5E17-1B62-F499-C761278885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7700" y="4897078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Address Line 1</a:t>
            </a:r>
          </a:p>
          <a:p>
            <a:r>
              <a:rPr lang="en-US"/>
              <a:t>Address Line 2</a:t>
            </a:r>
          </a:p>
          <a:p>
            <a:r>
              <a:rPr lang="en-US"/>
              <a:t>Zip Code</a:t>
            </a:r>
          </a:p>
          <a:p>
            <a:r>
              <a:rPr lang="en-US"/>
              <a:t>Country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FF80AE-E38B-EC18-E1B5-2B5AAE36C2F4}"/>
              </a:ext>
            </a:extLst>
          </p:cNvPr>
          <p:cNvCxnSpPr>
            <a:cxnSpLocks/>
          </p:cNvCxnSpPr>
          <p:nvPr userDrawn="1"/>
        </p:nvCxnSpPr>
        <p:spPr>
          <a:xfrm>
            <a:off x="647700" y="2935941"/>
            <a:ext cx="3534335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4452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_Photo_+_Caption_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50EF9F7-1BDD-C412-DA7B-D3D0D1ABA0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700" y="670773"/>
            <a:ext cx="10896600" cy="553952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C1B8CB-9FFB-8D0A-F788-18710501B096}"/>
              </a:ext>
            </a:extLst>
          </p:cNvPr>
          <p:cNvSpPr/>
          <p:nvPr userDrawn="1"/>
        </p:nvSpPr>
        <p:spPr bwMode="auto">
          <a:xfrm>
            <a:off x="0" y="2679405"/>
            <a:ext cx="4924396" cy="4178595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E94620-1500-8D43-BD64-006D83AE4B8E}"/>
              </a:ext>
            </a:extLst>
          </p:cNvPr>
          <p:cNvSpPr/>
          <p:nvPr userDrawn="1"/>
        </p:nvSpPr>
        <p:spPr bwMode="auto">
          <a:xfrm>
            <a:off x="-2151983" y="5103629"/>
            <a:ext cx="3848986" cy="3848986"/>
          </a:xfrm>
          <a:prstGeom prst="ellipse">
            <a:avLst/>
          </a:prstGeom>
          <a:solidFill>
            <a:srgbClr val="8B97FF">
              <a:alpha val="65000"/>
            </a:srgbClr>
          </a:solidFill>
          <a:ln>
            <a:noFill/>
          </a:ln>
          <a:effectLst>
            <a:softEdge rad="805949"/>
          </a:effectLst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59C2A-0FC8-422F-92E4-B92935AAE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699" y="3809007"/>
            <a:ext cx="3722281" cy="116955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Caption with two or more lines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3428999"/>
            <a:ext cx="373291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1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PREHEADER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184CEF6B-33E9-BCE0-3818-CFEBB6352D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700" y="5438001"/>
            <a:ext cx="369038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2FADFE-CDC9-BCE0-575D-8C2B21EF5ECA}"/>
              </a:ext>
            </a:extLst>
          </p:cNvPr>
          <p:cNvSpPr txBox="1"/>
          <p:nvPr userDrawn="1"/>
        </p:nvSpPr>
        <p:spPr>
          <a:xfrm>
            <a:off x="2271713" y="-8572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FE3F6A-717B-D671-C21C-B99B4FB231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237004"/>
            <a:ext cx="495300" cy="1820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AA398A-2E47-0C00-F4A0-87498FC7BBC1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8E7F306-CD25-215E-BBB0-42720869F90C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1512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0713" y="717613"/>
            <a:ext cx="1096568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D14E4D-CAE3-3A0B-B3F8-465622E4D6E8}"/>
              </a:ext>
            </a:extLst>
          </p:cNvPr>
          <p:cNvPicPr>
            <a:picLocks noChangeAspect="1"/>
          </p:cNvPicPr>
          <p:nvPr userDrawn="1"/>
        </p:nvPicPr>
        <p:blipFill>
          <a:blip r:embed="rId7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6C1CD2-C3C3-99BC-1F71-5CF176EF164E}"/>
              </a:ext>
            </a:extLst>
          </p:cNvPr>
          <p:cNvSpPr txBox="1"/>
          <p:nvPr userDrawn="1"/>
        </p:nvSpPr>
        <p:spPr>
          <a:xfrm>
            <a:off x="-579120" y="459232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DDA9FD-D621-0134-9699-89AED709AC96}"/>
              </a:ext>
            </a:extLst>
          </p:cNvPr>
          <p:cNvSpPr txBox="1"/>
          <p:nvPr userDrawn="1"/>
        </p:nvSpPr>
        <p:spPr>
          <a:xfrm>
            <a:off x="4429760" y="-5384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D7453A-FF25-1748-B091-91F29105A245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3E5B4CB-0A41-3758-17D3-77CB4387DBAE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4283C5-7CEB-C3A6-3D15-0C58149D1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410" y="1581502"/>
            <a:ext cx="10948386" cy="462879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10756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800" r:id="rId2"/>
    <p:sldLayoutId id="2147483840" r:id="rId3"/>
    <p:sldLayoutId id="2147483733" r:id="rId4"/>
    <p:sldLayoutId id="2147483810" r:id="rId5"/>
    <p:sldLayoutId id="2147483796" r:id="rId6"/>
    <p:sldLayoutId id="2147483797" r:id="rId7"/>
    <p:sldLayoutId id="2147483818" r:id="rId8"/>
    <p:sldLayoutId id="2147483819" r:id="rId9"/>
    <p:sldLayoutId id="2147483890" r:id="rId10"/>
    <p:sldLayoutId id="2147483883" r:id="rId11"/>
    <p:sldLayoutId id="2147483884" r:id="rId12"/>
    <p:sldLayoutId id="2147483798" r:id="rId13"/>
    <p:sldLayoutId id="2147483803" r:id="rId14"/>
    <p:sldLayoutId id="2147483806" r:id="rId15"/>
    <p:sldLayoutId id="2147483812" r:id="rId16"/>
    <p:sldLayoutId id="2147483839" r:id="rId17"/>
    <p:sldLayoutId id="2147483838" r:id="rId18"/>
    <p:sldLayoutId id="2147483805" r:id="rId19"/>
    <p:sldLayoutId id="2147483813" r:id="rId20"/>
    <p:sldLayoutId id="2147483877" r:id="rId21"/>
    <p:sldLayoutId id="2147483878" r:id="rId22"/>
    <p:sldLayoutId id="2147483879" r:id="rId23"/>
    <p:sldLayoutId id="2147483880" r:id="rId24"/>
    <p:sldLayoutId id="2147483881" r:id="rId25"/>
    <p:sldLayoutId id="2147483882" r:id="rId26"/>
    <p:sldLayoutId id="2147483850" r:id="rId27"/>
    <p:sldLayoutId id="2147483861" r:id="rId28"/>
    <p:sldLayoutId id="2147483834" r:id="rId29"/>
    <p:sldLayoutId id="2147483849" r:id="rId30"/>
    <p:sldLayoutId id="2147483862" r:id="rId31"/>
    <p:sldLayoutId id="2147483833" r:id="rId32"/>
    <p:sldLayoutId id="2147483876" r:id="rId33"/>
    <p:sldLayoutId id="2147483826" r:id="rId34"/>
    <p:sldLayoutId id="2147483814" r:id="rId35"/>
    <p:sldLayoutId id="2147483824" r:id="rId36"/>
    <p:sldLayoutId id="2147483815" r:id="rId37"/>
    <p:sldLayoutId id="2147483825" r:id="rId38"/>
    <p:sldLayoutId id="2147483823" r:id="rId39"/>
    <p:sldLayoutId id="2147483829" r:id="rId40"/>
    <p:sldLayoutId id="2147483830" r:id="rId41"/>
    <p:sldLayoutId id="2147483863" r:id="rId42"/>
    <p:sldLayoutId id="2147483868" r:id="rId43"/>
    <p:sldLayoutId id="2147483872" r:id="rId44"/>
    <p:sldLayoutId id="2147483866" r:id="rId45"/>
    <p:sldLayoutId id="2147483869" r:id="rId46"/>
    <p:sldLayoutId id="2147483873" r:id="rId47"/>
    <p:sldLayoutId id="2147483867" r:id="rId48"/>
    <p:sldLayoutId id="2147483870" r:id="rId49"/>
    <p:sldLayoutId id="2147483874" r:id="rId50"/>
    <p:sldLayoutId id="2147483864" r:id="rId51"/>
    <p:sldLayoutId id="2147483875" r:id="rId52"/>
    <p:sldLayoutId id="2147483871" r:id="rId53"/>
    <p:sldLayoutId id="2147483885" r:id="rId54"/>
    <p:sldLayoutId id="2147483841" r:id="rId55"/>
    <p:sldLayoutId id="2147483842" r:id="rId56"/>
    <p:sldLayoutId id="2147483886" r:id="rId57"/>
    <p:sldLayoutId id="2147483843" r:id="rId58"/>
    <p:sldLayoutId id="2147483889" r:id="rId59"/>
    <p:sldLayoutId id="2147483848" r:id="rId60"/>
    <p:sldLayoutId id="2147483888" r:id="rId61"/>
    <p:sldLayoutId id="2147483887" r:id="rId62"/>
    <p:sldLayoutId id="2147483851" r:id="rId63"/>
    <p:sldLayoutId id="2147483856" r:id="rId64"/>
    <p:sldLayoutId id="2147483893" r:id="rId65"/>
    <p:sldLayoutId id="2147483891" r:id="rId66"/>
    <p:sldLayoutId id="2147483892" r:id="rId67"/>
    <p:sldLayoutId id="2147483860" r:id="rId68"/>
    <p:sldLayoutId id="2147483858" r:id="rId69"/>
    <p:sldLayoutId id="2147483859" r:id="rId70"/>
    <p:sldLayoutId id="2147483778" r:id="rId71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200" b="1" i="0" kern="1200" spc="0" dirty="0">
          <a:solidFill>
            <a:schemeClr val="bg1"/>
          </a:solidFill>
          <a:effectLst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lang="en-US" sz="1400" b="0" i="0" kern="1200" dirty="0">
          <a:solidFill>
            <a:schemeClr val="bg1"/>
          </a:solidFill>
          <a:latin typeface="Calibri"/>
          <a:ea typeface="Calibri" panose="020F0502020204030204" pitchFamily="34" charset="0"/>
          <a:cs typeface="Calibri" panose="020F0502020204030204" pitchFamily="34" charset="0"/>
        </a:defRPr>
      </a:lvl1pPr>
      <a:lvl2pPr marL="18288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1"/>
        </a:buClr>
        <a:buFont typeface="Arial" panose="020B0604020202020204" pitchFamily="34" charset="0"/>
        <a:buChar char="•"/>
        <a:defRPr lang="en-US" sz="1400" b="0" i="0" kern="1200" dirty="0">
          <a:solidFill>
            <a:schemeClr val="bg1"/>
          </a:solidFill>
          <a:latin typeface="Calibri"/>
          <a:ea typeface="Calibri" panose="020F0502020204030204" pitchFamily="34" charset="0"/>
          <a:cs typeface="Calibri" panose="020F0502020204030204" pitchFamily="34" charset="0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1"/>
        </a:buClr>
        <a:buFont typeface="Courier New" panose="02070309020205020404" pitchFamily="49" charset="0"/>
        <a:buChar char="o"/>
        <a:defRPr lang="en-US" sz="1200" b="0" i="0" kern="1200" dirty="0">
          <a:solidFill>
            <a:schemeClr val="bg1"/>
          </a:solidFill>
          <a:latin typeface="Calibri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lang="en-US" sz="1200" b="0" i="0" kern="1200" dirty="0">
          <a:solidFill>
            <a:schemeClr val="bg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lang="en-US" sz="1200" b="0" i="0" kern="1200" dirty="0">
          <a:solidFill>
            <a:schemeClr val="bg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1" userDrawn="1">
          <p15:clr>
            <a:srgbClr val="F26B43"/>
          </p15:clr>
        </p15:guide>
        <p15:guide id="3" pos="7301" userDrawn="1">
          <p15:clr>
            <a:srgbClr val="F26B43"/>
          </p15:clr>
        </p15:guide>
        <p15:guide id="12" orient="horz" pos="3912" userDrawn="1">
          <p15:clr>
            <a:srgbClr val="F26B43"/>
          </p15:clr>
        </p15:guide>
        <p15:guide id="13" pos="826" userDrawn="1">
          <p15:clr>
            <a:srgbClr val="F26B43"/>
          </p15:clr>
        </p15:guide>
        <p15:guide id="14" pos="981" userDrawn="1">
          <p15:clr>
            <a:srgbClr val="F26B43"/>
          </p15:clr>
        </p15:guide>
        <p15:guide id="15" pos="1392" userDrawn="1">
          <p15:clr>
            <a:srgbClr val="F26B43"/>
          </p15:clr>
        </p15:guide>
        <p15:guide id="16" pos="1536" userDrawn="1">
          <p15:clr>
            <a:srgbClr val="F26B43"/>
          </p15:clr>
        </p15:guide>
        <p15:guide id="17" pos="2000" userDrawn="1">
          <p15:clr>
            <a:srgbClr val="F26B43"/>
          </p15:clr>
        </p15:guide>
        <p15:guide id="18" pos="2152" userDrawn="1">
          <p15:clr>
            <a:srgbClr val="F26B43"/>
          </p15:clr>
        </p15:guide>
        <p15:guide id="19" pos="2590" userDrawn="1">
          <p15:clr>
            <a:srgbClr val="F26B43"/>
          </p15:clr>
        </p15:guide>
        <p15:guide id="20" pos="2743" userDrawn="1">
          <p15:clr>
            <a:srgbClr val="F26B43"/>
          </p15:clr>
        </p15:guide>
        <p15:guide id="21" pos="3182" userDrawn="1">
          <p15:clr>
            <a:srgbClr val="F26B43"/>
          </p15:clr>
        </p15:guide>
        <p15:guide id="22" pos="3329" userDrawn="1">
          <p15:clr>
            <a:srgbClr val="F26B43"/>
          </p15:clr>
        </p15:guide>
        <p15:guide id="23" pos="3764" userDrawn="1">
          <p15:clr>
            <a:srgbClr val="F26B43"/>
          </p15:clr>
        </p15:guide>
        <p15:guide id="24" pos="3916" userDrawn="1">
          <p15:clr>
            <a:srgbClr val="F26B43"/>
          </p15:clr>
        </p15:guide>
        <p15:guide id="25" pos="4353" userDrawn="1">
          <p15:clr>
            <a:srgbClr val="F26B43"/>
          </p15:clr>
        </p15:guide>
        <p15:guide id="26" pos="4508" userDrawn="1">
          <p15:clr>
            <a:srgbClr val="F26B43"/>
          </p15:clr>
        </p15:guide>
        <p15:guide id="27" pos="4950" userDrawn="1">
          <p15:clr>
            <a:srgbClr val="F26B43"/>
          </p15:clr>
        </p15:guide>
        <p15:guide id="28" pos="5100" userDrawn="1">
          <p15:clr>
            <a:srgbClr val="F26B43"/>
          </p15:clr>
        </p15:guide>
        <p15:guide id="29" pos="5536" userDrawn="1">
          <p15:clr>
            <a:srgbClr val="F26B43"/>
          </p15:clr>
        </p15:guide>
        <p15:guide id="30" pos="5689" userDrawn="1">
          <p15:clr>
            <a:srgbClr val="F26B43"/>
          </p15:clr>
        </p15:guide>
        <p15:guide id="31" pos="6123" userDrawn="1">
          <p15:clr>
            <a:srgbClr val="F26B43"/>
          </p15:clr>
        </p15:guide>
        <p15:guide id="32" pos="6278" userDrawn="1">
          <p15:clr>
            <a:srgbClr val="F26B43"/>
          </p15:clr>
        </p15:guide>
        <p15:guide id="33" pos="6712" userDrawn="1">
          <p15:clr>
            <a:srgbClr val="F26B43"/>
          </p15:clr>
        </p15:guide>
        <p15:guide id="34" pos="6865" userDrawn="1">
          <p15:clr>
            <a:srgbClr val="F26B43"/>
          </p15:clr>
        </p15:guide>
        <p15:guide id="35" orient="horz" pos="984" userDrawn="1">
          <p15:clr>
            <a:srgbClr val="F26B43"/>
          </p15:clr>
        </p15:guide>
        <p15:guide id="36" orient="horz" pos="4128" userDrawn="1">
          <p15:clr>
            <a:srgbClr val="F26B43"/>
          </p15:clr>
        </p15:guide>
        <p15:guide id="37" orient="horz" pos="1080" userDrawn="1">
          <p15:clr>
            <a:srgbClr val="F26B43"/>
          </p15:clr>
        </p15:guide>
        <p15:guide id="38" orient="horz" pos="1248" userDrawn="1">
          <p15:clr>
            <a:srgbClr val="F26B43"/>
          </p15:clr>
        </p15:guide>
        <p15:guide id="39" orient="horz" pos="672" userDrawn="1">
          <p15:clr>
            <a:srgbClr val="F26B43"/>
          </p15:clr>
        </p15:guide>
        <p15:guide id="40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APRIL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35825" y="1653938"/>
            <a:ext cx="8060366" cy="2063706"/>
          </a:xfrm>
        </p:spPr>
        <p:txBody>
          <a:bodyPr/>
          <a:lstStyle/>
          <a:p>
            <a:r>
              <a:rPr sz="6600" dirty="0"/>
              <a:t>The Best </a:t>
            </a:r>
            <a:r>
              <a:rPr lang="en-US" sz="6600" dirty="0">
                <a:gradFill>
                  <a:gsLst>
                    <a:gs pos="0">
                      <a:srgbClr val="00FFF0"/>
                    </a:gs>
                    <a:gs pos="72000">
                      <a:srgbClr val="00F6FF"/>
                    </a:gs>
                    <a:gs pos="100000">
                      <a:srgbClr val="B896FF"/>
                    </a:gs>
                  </a:gsLst>
                  <a:lin ang="1200000" scaled="0"/>
                </a:gradFill>
                <a:latin typeface="+mj-lt"/>
                <a:cs typeface="Calibri" panose="020F0502020204030204" pitchFamily="34" charset="0"/>
              </a:rPr>
              <a:t>Programming Language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The Assembly Programmer Parallel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The Paradigm Inversion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Spec-Driven Development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dirty="0"/>
              <a:t>Four Engineer Shapes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The Certification Question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Assembly Programmer Parallel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History is repeating itself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/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The appearance of COBOL wiped out some jobs, but it also created new ones.</a:t>
            </a:r>
            <a:endParaRPr lang="en-US" b="0" dirty="0"/>
          </a:p>
          <a:p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7"/>
          </p:nvPr>
        </p:nvSpPr>
        <p:spPr>
          <a:xfrm>
            <a:off x="633632" y="2374362"/>
            <a:ext cx="11460398" cy="3723786"/>
          </a:xfrm>
        </p:spPr>
        <p:txBody>
          <a:bodyPr>
            <a:normAutofit/>
          </a:bodyPr>
          <a:lstStyle/>
          <a:p>
            <a:r>
              <a:rPr sz="2400" dirty="0"/>
              <a:t>- Assembly programmers managed every register, every memory address by hand</a:t>
            </a:r>
          </a:p>
          <a:p>
            <a:pPr marL="468630" lvl="1" indent="-285750">
              <a:buFontTx/>
              <a:buChar char="-"/>
            </a:pPr>
            <a:r>
              <a:rPr lang="en-US" sz="2400" b="1" dirty="0">
                <a:solidFill>
                  <a:srgbClr val="00F6FF"/>
                </a:solidFill>
              </a:rPr>
              <a:t>They spoke machine language</a:t>
            </a:r>
            <a:endParaRPr sz="2400" b="1" dirty="0">
              <a:solidFill>
                <a:srgbClr val="00F6FF"/>
              </a:solidFill>
            </a:endParaRPr>
          </a:p>
          <a:p>
            <a:endParaRPr sz="2400" dirty="0"/>
          </a:p>
          <a:p>
            <a:r>
              <a:rPr sz="2400" dirty="0"/>
              <a:t>- COBOL </a:t>
            </a:r>
            <a:r>
              <a:rPr sz="2400" b="1" dirty="0">
                <a:solidFill>
                  <a:schemeClr val="accent2"/>
                </a:solidFill>
              </a:rPr>
              <a:t>abstracted</a:t>
            </a:r>
            <a:r>
              <a:rPr sz="2400" dirty="0"/>
              <a:t> that mastery away</a:t>
            </a:r>
          </a:p>
          <a:p>
            <a:endParaRPr sz="2400" dirty="0"/>
          </a:p>
          <a:p>
            <a:r>
              <a:rPr sz="2400" dirty="0"/>
              <a:t>- Assembly progra</a:t>
            </a:r>
            <a:r>
              <a:rPr lang="en-US" sz="2400" dirty="0"/>
              <a:t>mmers</a:t>
            </a:r>
            <a:r>
              <a:rPr sz="2400" dirty="0"/>
              <a:t> didn't vanish overnight</a:t>
            </a:r>
          </a:p>
          <a:p>
            <a:endParaRPr sz="2400" dirty="0"/>
          </a:p>
          <a:p>
            <a:r>
              <a:rPr sz="2400" dirty="0"/>
              <a:t>- 70% of financial transactions still run in COBOL (200 </a:t>
            </a:r>
            <a:r>
              <a:rPr lang="en-US" sz="2400" dirty="0"/>
              <a:t>–</a:t>
            </a:r>
            <a:r>
              <a:rPr sz="2400" dirty="0"/>
              <a:t> 300 billions lines of code)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COBOL Arrived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23950" y="1762728"/>
            <a:ext cx="10248900" cy="1661993"/>
          </a:xfrm>
        </p:spPr>
        <p:txBody>
          <a:bodyPr/>
          <a:lstStyle/>
          <a:p>
            <a:r>
              <a:rPr sz="5400" dirty="0"/>
              <a:t>Change is like radiation. You don't feel it but it's all around you.</a:t>
            </a:r>
            <a:r>
              <a:rPr lang="en-US" sz="5400" dirty="0"/>
              <a:t> ”</a:t>
            </a:r>
            <a:endParaRPr sz="54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1123950" y="4231608"/>
            <a:ext cx="4554537" cy="215444"/>
          </a:xfrm>
        </p:spPr>
        <p:txBody>
          <a:bodyPr/>
          <a:lstStyle/>
          <a:p>
            <a:r>
              <a:rPr dirty="0"/>
              <a:t>And if you don't move </a:t>
            </a:r>
            <a:r>
              <a:rPr lang="en-US" dirty="0"/>
              <a:t>quickly,</a:t>
            </a:r>
            <a:r>
              <a:rPr dirty="0"/>
              <a:t> it will kill you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dirty="0"/>
              <a:t>The hard lessons made us stronger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7"/>
          </p:nvPr>
        </p:nvSpPr>
        <p:spPr>
          <a:xfrm>
            <a:off x="633632" y="2252471"/>
            <a:ext cx="10896600" cy="3658471"/>
          </a:xfrm>
        </p:spPr>
        <p:txBody>
          <a:bodyPr>
            <a:normAutofit/>
          </a:bodyPr>
          <a:lstStyle/>
          <a:p>
            <a:r>
              <a:rPr sz="2400" dirty="0"/>
              <a:t>- Real systems built. Real failures learned. </a:t>
            </a:r>
          </a:p>
          <a:p>
            <a:pPr marL="342900" indent="-342900">
              <a:buFontTx/>
              <a:buChar char="-"/>
            </a:pPr>
            <a:endParaRPr sz="2400" dirty="0"/>
          </a:p>
          <a:p>
            <a:r>
              <a:rPr sz="2400" dirty="0"/>
              <a:t>- That hard-won judgment does not go away — that is not being replaced</a:t>
            </a:r>
          </a:p>
          <a:p>
            <a:pPr marL="342900" indent="-342900">
              <a:buFontTx/>
              <a:buChar char="-"/>
            </a:pPr>
            <a:endParaRPr sz="2400" dirty="0"/>
          </a:p>
          <a:p>
            <a:r>
              <a:rPr sz="2400" dirty="0"/>
              <a:t>- But </a:t>
            </a:r>
            <a:r>
              <a:rPr sz="2400" b="1" dirty="0">
                <a:solidFill>
                  <a:schemeClr val="accent2"/>
                </a:solidFill>
              </a:rPr>
              <a:t>a new abstraction layer has appeared above everything you mastered</a:t>
            </a:r>
          </a:p>
          <a:p>
            <a:pPr marL="342900" indent="-342900">
              <a:buFontTx/>
              <a:buChar char="-"/>
            </a:pPr>
            <a:endParaRPr sz="2400" b="1" dirty="0">
              <a:solidFill>
                <a:schemeClr val="accent2"/>
              </a:solidFill>
            </a:endParaRPr>
          </a:p>
          <a:p>
            <a:r>
              <a:rPr sz="2400" dirty="0"/>
              <a:t>- Not gradually. Overnight.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 New Abstraction Layer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5B4B473-4A47-3C16-50E1-CFF084604981}"/>
              </a:ext>
            </a:extLst>
          </p:cNvPr>
          <p:cNvSpPr txBox="1">
            <a:spLocks/>
          </p:cNvSpPr>
          <p:nvPr/>
        </p:nvSpPr>
        <p:spPr>
          <a:xfrm>
            <a:off x="7469861" y="5670912"/>
            <a:ext cx="3771896" cy="4800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b="1" i="0" kern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lang="en-US" sz="1400" b="0" i="0" kern="12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Font typeface="Courier New" panose="02070309020205020404" pitchFamily="49" charset="0"/>
              <a:buChar char="o"/>
              <a:defRPr lang="en-US" sz="1200" b="0" i="0" kern="12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US" sz="1200" b="0" i="0" kern="1200" dirty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US" sz="1200" b="0" i="0" kern="1200" dirty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/>
              <a:t>Pretty similar as back in the 60s…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429B8-8C00-B35D-1C4A-EDF3751FA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CD8059-67B0-C71A-77E0-F1C5819A92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73B76-6F3E-6B18-62F4-2D09DE853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0" y="1762728"/>
            <a:ext cx="10248900" cy="1661993"/>
          </a:xfrm>
        </p:spPr>
        <p:txBody>
          <a:bodyPr/>
          <a:lstStyle/>
          <a:p>
            <a:r>
              <a:rPr sz="5400" dirty="0"/>
              <a:t>You are the Assembly programmer of today.</a:t>
            </a:r>
            <a:r>
              <a:rPr lang="en-US" sz="5400" dirty="0"/>
              <a:t> ”</a:t>
            </a:r>
            <a:endParaRPr sz="5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0BCADC-66C5-F76A-860B-DCC0172140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23950" y="4231608"/>
            <a:ext cx="4554537" cy="215444"/>
          </a:xfrm>
        </p:spPr>
        <p:txBody>
          <a:bodyPr/>
          <a:lstStyle/>
          <a:p>
            <a:r>
              <a:rPr dirty="0"/>
              <a:t>Figuratively</a:t>
            </a:r>
          </a:p>
        </p:txBody>
      </p:sp>
    </p:spTree>
    <p:extLst>
      <p:ext uri="{BB962C8B-B14F-4D97-AF65-F5344CB8AC3E}">
        <p14:creationId xmlns:p14="http://schemas.microsoft.com/office/powerpoint/2010/main" val="3906495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Paradigm Inversion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The machine learned our language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/>
              <a:t>02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machine understands human language now.</a:t>
            </a:r>
            <a:r>
              <a:rPr lang="en-US" dirty="0"/>
              <a:t>”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1123950" y="4231608"/>
            <a:ext cx="7236279" cy="507831"/>
          </a:xfrm>
        </p:spPr>
        <p:txBody>
          <a:bodyPr/>
          <a:lstStyle/>
          <a:p>
            <a:r>
              <a:rPr lang="en-US" dirty="0"/>
              <a:t>No syntax. No brackets. Just clear thinking in plain sentences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6"/>
          </p:nvPr>
        </p:nvSpPr>
        <p:spPr>
          <a:xfrm>
            <a:off x="633632" y="1714501"/>
            <a:ext cx="10896600" cy="745670"/>
          </a:xfrm>
        </p:spPr>
        <p:txBody>
          <a:bodyPr>
            <a:normAutofit/>
          </a:bodyPr>
          <a:lstStyle/>
          <a:p>
            <a:r>
              <a:rPr lang="en-US" sz="2000" dirty="0"/>
              <a:t>Just as COBOL </a:t>
            </a:r>
            <a:r>
              <a:rPr lang="en-US" sz="2000" dirty="0">
                <a:solidFill>
                  <a:schemeClr val="accent2"/>
                </a:solidFill>
              </a:rPr>
              <a:t>abstracted</a:t>
            </a:r>
            <a:r>
              <a:rPr lang="en-US" sz="2000" dirty="0"/>
              <a:t> away the Assembly programmer's register-level mastery, </a:t>
            </a:r>
            <a:r>
              <a:rPr lang="en-US" sz="2000" dirty="0">
                <a:solidFill>
                  <a:schemeClr val="accent2"/>
                </a:solidFill>
              </a:rPr>
              <a:t>Gen AI is abstracting </a:t>
            </a:r>
            <a:r>
              <a:rPr lang="en-US" sz="2000" dirty="0"/>
              <a:t>away the modern developer's syntax-level mastery</a:t>
            </a:r>
          </a:p>
          <a:p>
            <a:endParaRPr sz="2000" dirty="0">
              <a:solidFill>
                <a:srgbClr val="00F6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7"/>
          </p:nvPr>
        </p:nvSpPr>
        <p:spPr>
          <a:xfrm>
            <a:off x="633632" y="2687900"/>
            <a:ext cx="10896600" cy="3092414"/>
          </a:xfrm>
        </p:spPr>
        <p:txBody>
          <a:bodyPr>
            <a:normAutofit/>
          </a:bodyPr>
          <a:lstStyle/>
          <a:p>
            <a:r>
              <a:rPr lang="en-US" sz="2400" dirty="0"/>
              <a:t>- </a:t>
            </a:r>
            <a:r>
              <a:rPr sz="2400" dirty="0"/>
              <a:t>AI makes coding faster → </a:t>
            </a:r>
            <a:r>
              <a:rPr sz="2400" b="1" dirty="0">
                <a:solidFill>
                  <a:schemeClr val="accent2"/>
                </a:solidFill>
              </a:rPr>
              <a:t>smaller teams</a:t>
            </a:r>
            <a:r>
              <a:rPr sz="2400" dirty="0"/>
              <a:t> → fewer seats</a:t>
            </a:r>
          </a:p>
          <a:p>
            <a:endParaRPr sz="2400" dirty="0"/>
          </a:p>
          <a:p>
            <a:r>
              <a:rPr sz="2400" dirty="0"/>
              <a:t>- The developer who would have been the 6th hire </a:t>
            </a:r>
            <a:r>
              <a:rPr sz="2400" b="1" dirty="0">
                <a:solidFill>
                  <a:schemeClr val="accent2"/>
                </a:solidFill>
              </a:rPr>
              <a:t>is now never needed</a:t>
            </a:r>
          </a:p>
          <a:p>
            <a:pPr marL="342900" indent="-342900">
              <a:buFontTx/>
              <a:buChar char="-"/>
            </a:pPr>
            <a:endParaRPr sz="2400" b="1" dirty="0">
              <a:solidFill>
                <a:schemeClr val="accent2"/>
              </a:solidFill>
            </a:endParaRPr>
          </a:p>
          <a:p>
            <a:r>
              <a:rPr sz="2400" dirty="0"/>
              <a:t>- Junior entry-level work — their training ground — has been devoured</a:t>
            </a:r>
          </a:p>
          <a:p>
            <a:pPr marL="342900" indent="-342900">
              <a:buFontTx/>
              <a:buChar char="-"/>
            </a:pPr>
            <a:endParaRPr sz="2400" dirty="0"/>
          </a:p>
          <a:p>
            <a:r>
              <a:rPr sz="2400" dirty="0"/>
              <a:t>- </a:t>
            </a:r>
            <a:r>
              <a:rPr sz="2400" b="1" dirty="0">
                <a:solidFill>
                  <a:schemeClr val="accent2"/>
                </a:solidFill>
              </a:rPr>
              <a:t>Syntax-level mastery</a:t>
            </a:r>
            <a:r>
              <a:rPr sz="2400" dirty="0"/>
              <a:t> is being absorbed into a higher layer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Means in Practice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Spec-Driven Development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Human language as the instruction set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/>
              <a:t>03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dirty="0"/>
              <a:t>Take the Java language as an example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7"/>
          </p:nvPr>
        </p:nvSpPr>
        <p:spPr>
          <a:xfrm>
            <a:off x="633632" y="2252472"/>
            <a:ext cx="10896600" cy="3462528"/>
          </a:xfrm>
        </p:spPr>
        <p:txBody>
          <a:bodyPr>
            <a:normAutofit/>
          </a:bodyPr>
          <a:lstStyle/>
          <a:p>
            <a:r>
              <a:rPr sz="2400" dirty="0"/>
              <a:t>- Java → compiler → .class → JVM (written in C++, C and assembly) → Assembly: </a:t>
            </a:r>
            <a:r>
              <a:rPr sz="2400" b="1" dirty="0">
                <a:solidFill>
                  <a:schemeClr val="accent2"/>
                </a:solidFill>
              </a:rPr>
              <a:t>we stopped managing each layer</a:t>
            </a:r>
          </a:p>
          <a:p>
            <a:pPr marL="342900" indent="-342900">
              <a:buFontTx/>
              <a:buChar char="-"/>
            </a:pPr>
            <a:endParaRPr sz="2400" b="1" dirty="0">
              <a:solidFill>
                <a:schemeClr val="accent2"/>
              </a:solidFill>
            </a:endParaRPr>
          </a:p>
          <a:p>
            <a:r>
              <a:rPr sz="2400" dirty="0"/>
              <a:t>- New Java versions only require new C++ modules </a:t>
            </a:r>
          </a:p>
          <a:p>
            <a:endParaRPr sz="2400" b="1" dirty="0">
              <a:solidFill>
                <a:schemeClr val="accent2"/>
              </a:solidFill>
            </a:endParaRPr>
          </a:p>
          <a:p>
            <a:r>
              <a:rPr sz="2400" b="1" dirty="0">
                <a:solidFill>
                  <a:schemeClr val="accent2"/>
                </a:solidFill>
              </a:rPr>
              <a:t>- Human language specs are the new level of abstraction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Generation Freed Us to Think Higher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7D4D883-AB07-3203-9F6F-03A74A407E33}"/>
              </a:ext>
            </a:extLst>
          </p:cNvPr>
          <p:cNvSpPr/>
          <p:nvPr/>
        </p:nvSpPr>
        <p:spPr>
          <a:xfrm>
            <a:off x="6856634" y="3135082"/>
            <a:ext cx="5261429" cy="865634"/>
          </a:xfrm>
          <a:custGeom>
            <a:avLst/>
            <a:gdLst>
              <a:gd name="csX0" fmla="*/ 0 w 5261429"/>
              <a:gd name="csY0" fmla="*/ 865632 h 865632"/>
              <a:gd name="csX1" fmla="*/ 657681 w 5261429"/>
              <a:gd name="csY1" fmla="*/ 0 h 865632"/>
              <a:gd name="csX2" fmla="*/ 4603748 w 5261429"/>
              <a:gd name="csY2" fmla="*/ 0 h 865632"/>
              <a:gd name="csX3" fmla="*/ 5261429 w 5261429"/>
              <a:gd name="csY3" fmla="*/ 865632 h 865632"/>
              <a:gd name="csX4" fmla="*/ 0 w 5261429"/>
              <a:gd name="csY4" fmla="*/ 865632 h 865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261429" h="865632">
                <a:moveTo>
                  <a:pt x="5261429" y="1"/>
                </a:moveTo>
                <a:lnTo>
                  <a:pt x="4603748" y="865631"/>
                </a:lnTo>
                <a:lnTo>
                  <a:pt x="657681" y="865631"/>
                </a:lnTo>
                <a:lnTo>
                  <a:pt x="0" y="1"/>
                </a:lnTo>
                <a:lnTo>
                  <a:pt x="5261429" y="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7740" tIns="46991" rIns="967741" bIns="46991" numCol="1" spcCol="1270" anchor="ctr" anchorCtr="0">
            <a:noAutofit/>
          </a:bodyPr>
          <a:lstStyle/>
          <a:p>
            <a:pPr marL="0" lvl="0" indent="0" algn="ctr" defTabSz="1644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700" kern="1200" dirty="0"/>
              <a:t>Human Language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DA5EAA5-F061-4891-12A8-A34245EFAE23}"/>
              </a:ext>
            </a:extLst>
          </p:cNvPr>
          <p:cNvSpPr/>
          <p:nvPr/>
        </p:nvSpPr>
        <p:spPr>
          <a:xfrm>
            <a:off x="7514312" y="4000715"/>
            <a:ext cx="3946071" cy="865633"/>
          </a:xfrm>
          <a:custGeom>
            <a:avLst/>
            <a:gdLst>
              <a:gd name="csX0" fmla="*/ 0 w 3946071"/>
              <a:gd name="csY0" fmla="*/ 865632 h 865632"/>
              <a:gd name="csX1" fmla="*/ 657681 w 3946071"/>
              <a:gd name="csY1" fmla="*/ 0 h 865632"/>
              <a:gd name="csX2" fmla="*/ 3288390 w 3946071"/>
              <a:gd name="csY2" fmla="*/ 0 h 865632"/>
              <a:gd name="csX3" fmla="*/ 3946071 w 3946071"/>
              <a:gd name="csY3" fmla="*/ 865632 h 865632"/>
              <a:gd name="csX4" fmla="*/ 0 w 3946071"/>
              <a:gd name="csY4" fmla="*/ 865632 h 865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946071" h="865632">
                <a:moveTo>
                  <a:pt x="3946071" y="1"/>
                </a:moveTo>
                <a:lnTo>
                  <a:pt x="3288390" y="865631"/>
                </a:lnTo>
                <a:lnTo>
                  <a:pt x="657681" y="865631"/>
                </a:lnTo>
                <a:lnTo>
                  <a:pt x="0" y="1"/>
                </a:lnTo>
                <a:lnTo>
                  <a:pt x="3946071" y="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-797651"/>
              <a:satOff val="0"/>
              <a:lumOff val="-1765"/>
              <a:alphaOff val="0"/>
            </a:schemeClr>
          </a:fillRef>
          <a:effectRef idx="0">
            <a:schemeClr val="accent3">
              <a:hueOff val="-797651"/>
              <a:satOff val="0"/>
              <a:lumOff val="-176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37553" tIns="46990" rIns="737552" bIns="46991" numCol="1" spcCol="1270" anchor="ctr" anchorCtr="0">
            <a:noAutofit/>
          </a:bodyPr>
          <a:lstStyle/>
          <a:p>
            <a:pPr marL="0" lvl="0" indent="0" algn="ctr" defTabSz="1644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700" kern="1200" dirty="0"/>
              <a:t>Java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B0EF974-B427-0A9A-577D-B4162042C73D}"/>
              </a:ext>
            </a:extLst>
          </p:cNvPr>
          <p:cNvSpPr/>
          <p:nvPr/>
        </p:nvSpPr>
        <p:spPr>
          <a:xfrm>
            <a:off x="8171990" y="4866347"/>
            <a:ext cx="2630715" cy="865633"/>
          </a:xfrm>
          <a:custGeom>
            <a:avLst/>
            <a:gdLst>
              <a:gd name="csX0" fmla="*/ 0 w 2630714"/>
              <a:gd name="csY0" fmla="*/ 865632 h 865632"/>
              <a:gd name="csX1" fmla="*/ 657681 w 2630714"/>
              <a:gd name="csY1" fmla="*/ 0 h 865632"/>
              <a:gd name="csX2" fmla="*/ 1973033 w 2630714"/>
              <a:gd name="csY2" fmla="*/ 0 h 865632"/>
              <a:gd name="csX3" fmla="*/ 2630714 w 2630714"/>
              <a:gd name="csY3" fmla="*/ 865632 h 865632"/>
              <a:gd name="csX4" fmla="*/ 0 w 2630714"/>
              <a:gd name="csY4" fmla="*/ 865632 h 865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30714" h="865632">
                <a:moveTo>
                  <a:pt x="2630714" y="1"/>
                </a:moveTo>
                <a:lnTo>
                  <a:pt x="1973033" y="865631"/>
                </a:lnTo>
                <a:lnTo>
                  <a:pt x="657681" y="865631"/>
                </a:lnTo>
                <a:lnTo>
                  <a:pt x="0" y="1"/>
                </a:lnTo>
                <a:lnTo>
                  <a:pt x="2630714" y="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-1595303"/>
              <a:satOff val="0"/>
              <a:lumOff val="-3529"/>
              <a:alphaOff val="0"/>
            </a:schemeClr>
          </a:fillRef>
          <a:effectRef idx="0">
            <a:schemeClr val="accent3">
              <a:hueOff val="-1595303"/>
              <a:satOff val="0"/>
              <a:lumOff val="-3529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07366" tIns="46990" rIns="507365" bIns="46991" numCol="1" spcCol="1270" anchor="ctr" anchorCtr="0">
            <a:noAutofit/>
          </a:bodyPr>
          <a:lstStyle/>
          <a:p>
            <a:pPr marL="0" lvl="0" indent="0" algn="ctr" defTabSz="1644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700" kern="1200" dirty="0"/>
              <a:t>C – C++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FC79FE0-803F-F637-303E-4E9AC45F5023}"/>
              </a:ext>
            </a:extLst>
          </p:cNvPr>
          <p:cNvSpPr/>
          <p:nvPr/>
        </p:nvSpPr>
        <p:spPr>
          <a:xfrm>
            <a:off x="8829668" y="5731979"/>
            <a:ext cx="1315358" cy="865633"/>
          </a:xfrm>
          <a:custGeom>
            <a:avLst/>
            <a:gdLst>
              <a:gd name="csX0" fmla="*/ 0 w 1315357"/>
              <a:gd name="csY0" fmla="*/ 865632 h 865632"/>
              <a:gd name="csX1" fmla="*/ 657679 w 1315357"/>
              <a:gd name="csY1" fmla="*/ 0 h 865632"/>
              <a:gd name="csX2" fmla="*/ 657679 w 1315357"/>
              <a:gd name="csY2" fmla="*/ 0 h 865632"/>
              <a:gd name="csX3" fmla="*/ 1315357 w 1315357"/>
              <a:gd name="csY3" fmla="*/ 865632 h 865632"/>
              <a:gd name="csX4" fmla="*/ 0 w 1315357"/>
              <a:gd name="csY4" fmla="*/ 865632 h 865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15357" h="865632">
                <a:moveTo>
                  <a:pt x="1315357" y="0"/>
                </a:moveTo>
                <a:lnTo>
                  <a:pt x="657678" y="865632"/>
                </a:lnTo>
                <a:lnTo>
                  <a:pt x="657678" y="865632"/>
                </a:lnTo>
                <a:lnTo>
                  <a:pt x="0" y="0"/>
                </a:lnTo>
                <a:lnTo>
                  <a:pt x="1315357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-2392954"/>
              <a:satOff val="0"/>
              <a:lumOff val="-5294"/>
              <a:alphaOff val="0"/>
            </a:schemeClr>
          </a:fillRef>
          <a:effectRef idx="0">
            <a:schemeClr val="accent3">
              <a:hueOff val="-2392954"/>
              <a:satOff val="0"/>
              <a:lumOff val="-529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6991" tIns="46990" rIns="46990" bIns="46991" numCol="1" spcCol="1270" anchor="ctr" anchorCtr="0">
            <a:noAutofit/>
          </a:bodyPr>
          <a:lstStyle/>
          <a:p>
            <a:pPr marL="0" lvl="0" indent="0" algn="ctr" defTabSz="1644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700" kern="1200" dirty="0"/>
              <a:t>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7"/>
          </p:nvPr>
        </p:nvSpPr>
        <p:spPr>
          <a:xfrm>
            <a:off x="633632" y="2252471"/>
            <a:ext cx="10896600" cy="3734671"/>
          </a:xfrm>
        </p:spPr>
        <p:txBody>
          <a:bodyPr>
            <a:normAutofit lnSpcReduction="10000"/>
          </a:bodyPr>
          <a:lstStyle/>
          <a:p>
            <a:r>
              <a:rPr sz="2400" dirty="0"/>
              <a:t>- No semicolons, no brackets — </a:t>
            </a:r>
            <a:r>
              <a:rPr sz="2400" b="1" dirty="0">
                <a:solidFill>
                  <a:schemeClr val="accent2"/>
                </a:solidFill>
              </a:rPr>
              <a:t>just clear thinking in plain language</a:t>
            </a:r>
          </a:p>
          <a:p>
            <a:endParaRPr sz="2400" dirty="0"/>
          </a:p>
          <a:p>
            <a:r>
              <a:rPr lang="en-US" sz="2400" dirty="0"/>
              <a:t>- </a:t>
            </a:r>
            <a:r>
              <a:rPr sz="2400" dirty="0"/>
              <a:t>You focus on the </a:t>
            </a:r>
            <a:r>
              <a:rPr sz="2400" b="1" dirty="0">
                <a:solidFill>
                  <a:schemeClr val="accent2"/>
                </a:solidFill>
              </a:rPr>
              <a:t>what</a:t>
            </a:r>
            <a:r>
              <a:rPr sz="2400" dirty="0"/>
              <a:t>. The AI handles the </a:t>
            </a:r>
            <a:r>
              <a:rPr sz="2400" b="1" dirty="0">
                <a:solidFill>
                  <a:schemeClr val="accent2"/>
                </a:solidFill>
              </a:rPr>
              <a:t>how</a:t>
            </a:r>
            <a:r>
              <a:rPr sz="2400" dirty="0"/>
              <a:t>.</a:t>
            </a:r>
          </a:p>
          <a:p>
            <a:endParaRPr sz="2400" dirty="0"/>
          </a:p>
          <a:p>
            <a:r>
              <a:rPr lang="en-US" sz="2400" b="1" dirty="0">
                <a:solidFill>
                  <a:schemeClr val="accent2"/>
                </a:solidFill>
              </a:rPr>
              <a:t>- </a:t>
            </a:r>
            <a:r>
              <a:rPr sz="2400" b="1" dirty="0">
                <a:solidFill>
                  <a:schemeClr val="accent2"/>
                </a:solidFill>
              </a:rPr>
              <a:t>Good grammar</a:t>
            </a:r>
            <a:r>
              <a:rPr sz="2400" dirty="0"/>
              <a:t> carries the same weight as </a:t>
            </a:r>
            <a:r>
              <a:rPr sz="2400" b="1" dirty="0">
                <a:solidFill>
                  <a:schemeClr val="accent2"/>
                </a:solidFill>
              </a:rPr>
              <a:t>good syntax</a:t>
            </a:r>
          </a:p>
          <a:p>
            <a:endParaRPr sz="2400" dirty="0"/>
          </a:p>
          <a:p>
            <a:r>
              <a:rPr lang="en-US" sz="2400" dirty="0"/>
              <a:t>- </a:t>
            </a:r>
            <a:r>
              <a:rPr sz="2400" dirty="0"/>
              <a:t>Design patterns </a:t>
            </a:r>
            <a:r>
              <a:rPr sz="2400" b="1" dirty="0">
                <a:solidFill>
                  <a:schemeClr val="accent2"/>
                </a:solidFill>
              </a:rPr>
              <a:t>matter more</a:t>
            </a:r>
            <a:r>
              <a:rPr sz="2400" dirty="0"/>
              <a:t> than naming conventions</a:t>
            </a:r>
          </a:p>
          <a:p>
            <a:endParaRPr sz="2400" dirty="0"/>
          </a:p>
          <a:p>
            <a:r>
              <a:rPr sz="2400" dirty="0"/>
              <a:t>- Every hour clarifying specs and standards is worthwhile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SDD Changes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/>
                </a:solidFill>
              </a:rPr>
              <a:t>Good grammar</a:t>
            </a:r>
            <a:r>
              <a:rPr dirty="0"/>
              <a:t> will matter as much as </a:t>
            </a:r>
            <a:r>
              <a:rPr dirty="0">
                <a:solidFill>
                  <a:schemeClr val="accent2"/>
                </a:solidFill>
              </a:rPr>
              <a:t>good syntax.</a:t>
            </a:r>
            <a:r>
              <a:rPr lang="en-US" dirty="0"/>
              <a:t>”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The new craft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23949" y="1762728"/>
            <a:ext cx="10872107" cy="1846659"/>
          </a:xfrm>
        </p:spPr>
        <p:txBody>
          <a:bodyPr/>
          <a:lstStyle/>
          <a:p>
            <a:r>
              <a:rPr lang="en-US" dirty="0"/>
              <a:t>The lack of specs will become the technical debt of the future</a:t>
            </a:r>
            <a:r>
              <a:rPr lang="en-US" b="0" dirty="0"/>
              <a:t>.</a:t>
            </a:r>
            <a:r>
              <a:rPr lang="en-US" dirty="0"/>
              <a:t>”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1123950" y="4231608"/>
            <a:ext cx="8172450" cy="507831"/>
          </a:xfrm>
        </p:spPr>
        <p:txBody>
          <a:bodyPr/>
          <a:lstStyle/>
          <a:p>
            <a:r>
              <a:rPr lang="en-US" dirty="0"/>
              <a:t>The same way that the lack of unit tests haunts legacy applications today</a:t>
            </a:r>
            <a:endParaRPr lang="en-US" b="0" dirty="0"/>
          </a:p>
          <a:p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300" y="1968918"/>
            <a:ext cx="10869110" cy="1015663"/>
          </a:xfrm>
        </p:spPr>
        <p:txBody>
          <a:bodyPr/>
          <a:lstStyle/>
          <a:p>
            <a:r>
              <a:rPr dirty="0"/>
              <a:t>Four Engineer Shapes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Which profile survives the AI era?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/>
              <a:t>04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1FA24-00E4-F67D-5537-9EA1BB6AA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069585-5455-BCC7-45A8-8DD616D67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I, T, Pi, and M-Shaped Engineers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531B41-195D-74A7-3D28-5038B628491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BC454B-F4EC-88DC-F280-A5CD03324DDD}"/>
              </a:ext>
            </a:extLst>
          </p:cNvPr>
          <p:cNvSpPr/>
          <p:nvPr/>
        </p:nvSpPr>
        <p:spPr bwMode="auto">
          <a:xfrm>
            <a:off x="1632858" y="4180109"/>
            <a:ext cx="533400" cy="1719943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vert="vert" wrap="none" rtlCol="0" anchor="ctr"/>
          <a:lstStyle/>
          <a:p>
            <a:pPr algn="ctr"/>
            <a:r>
              <a:rPr lang="en-US" b="1" dirty="0">
                <a:latin typeface="Bodoni MT Black" panose="02070A03080606020203" pitchFamily="18" charset="0"/>
                <a:ea typeface="Human Sans ExtraLight" charset="0"/>
                <a:cs typeface="Human Sans ExtraLight" charset="0"/>
              </a:rPr>
              <a:t>Specialist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28353D-4918-3B72-0799-44CD4D69BB96}"/>
              </a:ext>
            </a:extLst>
          </p:cNvPr>
          <p:cNvSpPr/>
          <p:nvPr/>
        </p:nvSpPr>
        <p:spPr bwMode="auto">
          <a:xfrm>
            <a:off x="3744685" y="4180109"/>
            <a:ext cx="533400" cy="1719943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vert="vert" wrap="none" rtlCol="0" anchor="ctr"/>
          <a:lstStyle/>
          <a:p>
            <a:pPr algn="ctr"/>
            <a:r>
              <a:rPr lang="en-US" b="1" dirty="0">
                <a:latin typeface="Bodoni MT Black" panose="02070A03080606020203" pitchFamily="18" charset="0"/>
                <a:ea typeface="Human Sans ExtraLight" charset="0"/>
                <a:cs typeface="Human Sans ExtraLight" charset="0"/>
              </a:rPr>
              <a:t>Specialist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51E4F4-7A40-BCF0-1B46-0791EBAB72D3}"/>
              </a:ext>
            </a:extLst>
          </p:cNvPr>
          <p:cNvSpPr/>
          <p:nvPr/>
        </p:nvSpPr>
        <p:spPr bwMode="auto">
          <a:xfrm rot="16200000">
            <a:off x="3758755" y="3053438"/>
            <a:ext cx="533400" cy="1719943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vert="vert" wrap="none" rtlCol="0" anchor="ctr"/>
          <a:lstStyle/>
          <a:p>
            <a:pPr algn="ctr"/>
            <a:r>
              <a:rPr lang="en-US" sz="1600" b="1" dirty="0">
                <a:latin typeface="Calibri Light" panose="020F0302020204030204" pitchFamily="34" charset="0"/>
                <a:ea typeface="Human Sans ExtraLight" charset="0"/>
                <a:cs typeface="Human Sans ExtraLight" charset="0"/>
              </a:rPr>
              <a:t>Broad Knowledge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2A8597-991C-E93A-2F3A-A1F8670D8D6B}"/>
              </a:ext>
            </a:extLst>
          </p:cNvPr>
          <p:cNvSpPr/>
          <p:nvPr/>
        </p:nvSpPr>
        <p:spPr bwMode="auto">
          <a:xfrm>
            <a:off x="5645376" y="4172708"/>
            <a:ext cx="533400" cy="1719943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vert="vert" wrap="none" rtlCol="0" anchor="ctr"/>
          <a:lstStyle/>
          <a:p>
            <a:pPr algn="ctr"/>
            <a:r>
              <a:rPr lang="en-US" b="1" dirty="0">
                <a:latin typeface="Bodoni MT Black" panose="02070A03080606020203" pitchFamily="18" charset="0"/>
                <a:ea typeface="Human Sans ExtraLight" charset="0"/>
                <a:cs typeface="Human Sans ExtraLight" charset="0"/>
              </a:rPr>
              <a:t>Specialist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3162E8-51C7-800E-E603-A9B4D90C033A}"/>
              </a:ext>
            </a:extLst>
          </p:cNvPr>
          <p:cNvSpPr/>
          <p:nvPr/>
        </p:nvSpPr>
        <p:spPr bwMode="auto">
          <a:xfrm rot="16200000">
            <a:off x="6068787" y="3053437"/>
            <a:ext cx="533400" cy="1719943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vert="vert" wrap="none" rtlCol="0" anchor="ctr"/>
          <a:lstStyle/>
          <a:p>
            <a:pPr algn="ctr"/>
            <a:r>
              <a:rPr lang="en-US" sz="1600" b="1" dirty="0">
                <a:latin typeface="Calibri Light" panose="020F0302020204030204" pitchFamily="34" charset="0"/>
                <a:ea typeface="Human Sans ExtraLight" charset="0"/>
                <a:cs typeface="Human Sans ExtraLight" charset="0"/>
              </a:rPr>
              <a:t>Broad Knowledge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930040-AED1-CFC3-D50B-7803AC602AAA}"/>
              </a:ext>
            </a:extLst>
          </p:cNvPr>
          <p:cNvSpPr/>
          <p:nvPr/>
        </p:nvSpPr>
        <p:spPr bwMode="auto">
          <a:xfrm>
            <a:off x="6474740" y="4180109"/>
            <a:ext cx="533400" cy="1394237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vert="vert" wrap="none" rtlCol="0" anchor="ctr"/>
          <a:lstStyle/>
          <a:p>
            <a:pPr algn="ctr"/>
            <a:r>
              <a:rPr lang="en-US" b="1" dirty="0">
                <a:latin typeface="Bodoni MT Black" panose="02070A03080606020203" pitchFamily="18" charset="0"/>
                <a:ea typeface="Human Sans ExtraLight" charset="0"/>
                <a:cs typeface="Human Sans ExtraLight" charset="0"/>
              </a:rPr>
              <a:t>Specialist</a:t>
            </a:r>
            <a:endParaRPr lang="en-US" sz="2400" b="1" dirty="0">
              <a:latin typeface="Bodoni MT Black" panose="02070A03080606020203" pitchFamily="18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7AD39D-9222-B3C5-C0AB-5E42AB91176D}"/>
              </a:ext>
            </a:extLst>
          </p:cNvPr>
          <p:cNvSpPr/>
          <p:nvPr/>
        </p:nvSpPr>
        <p:spPr bwMode="auto">
          <a:xfrm>
            <a:off x="8312371" y="4180109"/>
            <a:ext cx="533400" cy="1719943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vert="vert" wrap="none" rtlCol="0" anchor="ctr"/>
          <a:lstStyle/>
          <a:p>
            <a:pPr algn="ctr"/>
            <a:r>
              <a:rPr lang="en-US" b="1" dirty="0">
                <a:latin typeface="Bodoni MT Black" panose="02070A03080606020203" pitchFamily="18" charset="0"/>
                <a:ea typeface="Human Sans ExtraLight" charset="0"/>
                <a:cs typeface="Human Sans ExtraLight" charset="0"/>
              </a:rPr>
              <a:t>Specialist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095B09-A605-4EDA-9000-6B019F821C5D}"/>
              </a:ext>
            </a:extLst>
          </p:cNvPr>
          <p:cNvSpPr/>
          <p:nvPr/>
        </p:nvSpPr>
        <p:spPr bwMode="auto">
          <a:xfrm rot="16200000">
            <a:off x="9198431" y="2579911"/>
            <a:ext cx="533400" cy="2666996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vert="vert" wrap="none" rtlCol="0" anchor="ctr"/>
          <a:lstStyle/>
          <a:p>
            <a:pPr algn="ctr"/>
            <a:r>
              <a:rPr lang="en-US" sz="1600" b="1" dirty="0">
                <a:latin typeface="Calibri Light" panose="020F0302020204030204" pitchFamily="34" charset="0"/>
                <a:ea typeface="Human Sans ExtraLight" charset="0"/>
                <a:cs typeface="Human Sans ExtraLight" charset="0"/>
              </a:rPr>
              <a:t>Broad Knowledge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6FFF96-2BB4-C97E-00FC-4E38B3FE4A9F}"/>
              </a:ext>
            </a:extLst>
          </p:cNvPr>
          <p:cNvSpPr/>
          <p:nvPr/>
        </p:nvSpPr>
        <p:spPr bwMode="auto">
          <a:xfrm>
            <a:off x="9189699" y="4180109"/>
            <a:ext cx="533400" cy="1110348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vert="vert" wrap="none" rtlCol="0" anchor="ctr"/>
          <a:lstStyle/>
          <a:p>
            <a:pPr algn="ctr"/>
            <a:r>
              <a:rPr lang="en-US" sz="1400" b="1" dirty="0">
                <a:latin typeface="Bodoni MT Black" panose="02070A03080606020203" pitchFamily="18" charset="0"/>
                <a:ea typeface="Human Sans ExtraLight" charset="0"/>
                <a:cs typeface="Human Sans ExtraLight" charset="0"/>
              </a:rPr>
              <a:t>Specialist</a:t>
            </a:r>
            <a:endParaRPr lang="en-US" b="1" dirty="0">
              <a:latin typeface="Bodoni MT Black" panose="02070A03080606020203" pitchFamily="18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4F02FE-EBE0-FA57-CBE7-CE1F6AEC068D}"/>
              </a:ext>
            </a:extLst>
          </p:cNvPr>
          <p:cNvSpPr/>
          <p:nvPr/>
        </p:nvSpPr>
        <p:spPr bwMode="auto">
          <a:xfrm>
            <a:off x="10067027" y="4180109"/>
            <a:ext cx="533400" cy="1394237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vert="vert" wrap="none" rtlCol="0" anchor="ctr"/>
          <a:lstStyle/>
          <a:p>
            <a:pPr algn="ctr"/>
            <a:r>
              <a:rPr lang="en-US" sz="1400" b="1" dirty="0">
                <a:latin typeface="Bodoni MT Black" panose="02070A03080606020203" pitchFamily="18" charset="0"/>
                <a:ea typeface="Human Sans ExtraLight" charset="0"/>
                <a:cs typeface="Human Sans ExtraLight" charset="0"/>
              </a:rPr>
              <a:t>Specialist</a:t>
            </a:r>
            <a:endParaRPr lang="en-US" b="1" dirty="0">
              <a:latin typeface="Bodoni MT Black" panose="02070A03080606020203" pitchFamily="18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CAB4613-EA68-DF7E-8281-1BAD0C469EC5}"/>
              </a:ext>
            </a:extLst>
          </p:cNvPr>
          <p:cNvSpPr txBox="1">
            <a:spLocks/>
          </p:cNvSpPr>
          <p:nvPr/>
        </p:nvSpPr>
        <p:spPr>
          <a:xfrm>
            <a:off x="633632" y="1529005"/>
            <a:ext cx="10896600" cy="27222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0" i="0" kern="1200">
                <a:solidFill>
                  <a:schemeClr val="bg1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lang="en-US" sz="1400" b="0" i="0" kern="12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Font typeface="Courier New" panose="02070309020205020404" pitchFamily="49" charset="0"/>
              <a:buChar char="o"/>
              <a:defRPr lang="en-US" sz="1200" b="0" i="0" kern="12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US" sz="1200" b="0" i="0" kern="1200" dirty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US" sz="1200" b="0" i="0" kern="1200" dirty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- I-shaped: deep specialist, one domain</a:t>
            </a:r>
          </a:p>
          <a:p>
            <a:r>
              <a:rPr lang="en-US" sz="2000" dirty="0"/>
              <a:t>- T-shaped: genuine depth + breadth to bridge, translate, and wear multiple hats</a:t>
            </a:r>
          </a:p>
          <a:p>
            <a:r>
              <a:rPr lang="en-US" sz="2000" dirty="0"/>
              <a:t>- Pi-shaped: two areas of expertise</a:t>
            </a:r>
          </a:p>
          <a:p>
            <a:r>
              <a:rPr lang="en-US" sz="2000" dirty="0"/>
              <a:t>- M-shaped: multiple peaks of expertise</a:t>
            </a:r>
            <a:endParaRPr lang="en-US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3918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DF281-AA07-BD1A-71D1-640A597CB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0703B9-BD6E-05FE-1249-8F965D8ED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I, T, Pi, and M-Shaped Engineers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2B1CD1-7ECA-0A43-0240-17130B1EDB0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8D5218-7ADE-28FB-F50C-2C9A5A33941A}"/>
              </a:ext>
            </a:extLst>
          </p:cNvPr>
          <p:cNvSpPr/>
          <p:nvPr/>
        </p:nvSpPr>
        <p:spPr bwMode="auto">
          <a:xfrm>
            <a:off x="3744685" y="4180109"/>
            <a:ext cx="533400" cy="2181497"/>
          </a:xfrm>
          <a:prstGeom prst="rect">
            <a:avLst/>
          </a:prstGeom>
          <a:gradFill>
            <a:gsLst>
              <a:gs pos="71000">
                <a:srgbClr val="FFC000"/>
              </a:gs>
              <a:gs pos="8900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  <a:effectLst/>
        </p:spPr>
        <p:txBody>
          <a:bodyPr vert="vert" wrap="none" rtlCol="0" anchor="ctr"/>
          <a:lstStyle/>
          <a:p>
            <a:pPr algn="ctr"/>
            <a:r>
              <a:rPr lang="en-US" b="1" dirty="0">
                <a:latin typeface="Bodoni MT Black" panose="02070A03080606020203" pitchFamily="18" charset="0"/>
                <a:ea typeface="Human Sans ExtraLight" charset="0"/>
                <a:cs typeface="Human Sans ExtraLight" charset="0"/>
              </a:rPr>
              <a:t>Specialist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75BCBD-543D-677B-9353-5B3E62A57C1D}"/>
              </a:ext>
            </a:extLst>
          </p:cNvPr>
          <p:cNvSpPr/>
          <p:nvPr/>
        </p:nvSpPr>
        <p:spPr bwMode="auto">
          <a:xfrm rot="16200000">
            <a:off x="3758755" y="3053438"/>
            <a:ext cx="533400" cy="1719943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vert="vert" wrap="none" rtlCol="0" anchor="ctr"/>
          <a:lstStyle/>
          <a:p>
            <a:pPr algn="ctr"/>
            <a:r>
              <a:rPr lang="en-US" sz="1600" b="1" dirty="0">
                <a:latin typeface="Calibri Light" panose="020F0302020204030204" pitchFamily="34" charset="0"/>
                <a:ea typeface="Human Sans ExtraLight" charset="0"/>
                <a:cs typeface="Human Sans ExtraLight" charset="0"/>
              </a:rPr>
              <a:t>Broad Knowledge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FFEBF8-7B35-312D-F4F1-A8BCF7982840}"/>
              </a:ext>
            </a:extLst>
          </p:cNvPr>
          <p:cNvSpPr/>
          <p:nvPr/>
        </p:nvSpPr>
        <p:spPr bwMode="auto">
          <a:xfrm>
            <a:off x="5645376" y="4172708"/>
            <a:ext cx="533400" cy="2188898"/>
          </a:xfrm>
          <a:prstGeom prst="rect">
            <a:avLst/>
          </a:prstGeom>
          <a:gradFill>
            <a:gsLst>
              <a:gs pos="73000">
                <a:srgbClr val="FFC000"/>
              </a:gs>
              <a:gs pos="8700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  <a:effectLst/>
        </p:spPr>
        <p:txBody>
          <a:bodyPr vert="vert" wrap="none" rtlCol="0" anchor="ctr"/>
          <a:lstStyle/>
          <a:p>
            <a:pPr algn="ctr"/>
            <a:r>
              <a:rPr lang="en-US" b="1" dirty="0">
                <a:latin typeface="Bodoni MT Black" panose="02070A03080606020203" pitchFamily="18" charset="0"/>
                <a:ea typeface="Human Sans ExtraLight" charset="0"/>
                <a:cs typeface="Human Sans ExtraLight" charset="0"/>
              </a:rPr>
              <a:t>Specialist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D681FE-C33E-6ADF-0C96-5D3C7134560E}"/>
              </a:ext>
            </a:extLst>
          </p:cNvPr>
          <p:cNvSpPr/>
          <p:nvPr/>
        </p:nvSpPr>
        <p:spPr bwMode="auto">
          <a:xfrm rot="16200000">
            <a:off x="6068787" y="3053437"/>
            <a:ext cx="533400" cy="1719943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vert="vert" wrap="none" rtlCol="0" anchor="ctr"/>
          <a:lstStyle/>
          <a:p>
            <a:pPr algn="ctr"/>
            <a:r>
              <a:rPr lang="en-US" sz="1600" b="1" dirty="0">
                <a:latin typeface="Calibri Light" panose="020F0302020204030204" pitchFamily="34" charset="0"/>
                <a:ea typeface="Human Sans ExtraLight" charset="0"/>
                <a:cs typeface="Human Sans ExtraLight" charset="0"/>
              </a:rPr>
              <a:t>Broad Knowledge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54170B-271D-7FDE-D3D4-F21A3D962A5B}"/>
              </a:ext>
            </a:extLst>
          </p:cNvPr>
          <p:cNvSpPr/>
          <p:nvPr/>
        </p:nvSpPr>
        <p:spPr bwMode="auto">
          <a:xfrm>
            <a:off x="6474740" y="4180109"/>
            <a:ext cx="533400" cy="2181497"/>
          </a:xfrm>
          <a:prstGeom prst="rect">
            <a:avLst/>
          </a:prstGeom>
          <a:gradFill>
            <a:gsLst>
              <a:gs pos="38000">
                <a:srgbClr val="FFC000"/>
              </a:gs>
              <a:gs pos="6900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  <a:effectLst/>
        </p:spPr>
        <p:txBody>
          <a:bodyPr vert="vert" wrap="none" rtlCol="0" anchor="ctr"/>
          <a:lstStyle/>
          <a:p>
            <a:pPr algn="ctr"/>
            <a:r>
              <a:rPr lang="en-US" b="1" dirty="0">
                <a:latin typeface="Bodoni MT Black" panose="02070A03080606020203" pitchFamily="18" charset="0"/>
                <a:ea typeface="Human Sans ExtraLight" charset="0"/>
                <a:cs typeface="Human Sans ExtraLight" charset="0"/>
              </a:rPr>
              <a:t>Specialist</a:t>
            </a:r>
            <a:endParaRPr lang="en-US" sz="2400" b="1" dirty="0">
              <a:latin typeface="Bodoni MT Black" panose="02070A03080606020203" pitchFamily="18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37C1DC-3E23-B337-EFAC-F71CCBA5FFDB}"/>
              </a:ext>
            </a:extLst>
          </p:cNvPr>
          <p:cNvSpPr/>
          <p:nvPr/>
        </p:nvSpPr>
        <p:spPr bwMode="auto">
          <a:xfrm rot="16200000">
            <a:off x="9198431" y="2579911"/>
            <a:ext cx="533400" cy="2666996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vert="vert" wrap="none" rtlCol="0" anchor="ctr"/>
          <a:lstStyle/>
          <a:p>
            <a:pPr algn="ctr"/>
            <a:r>
              <a:rPr lang="en-US" sz="1600" b="1" dirty="0">
                <a:latin typeface="Calibri Light" panose="020F0302020204030204" pitchFamily="34" charset="0"/>
                <a:ea typeface="Human Sans ExtraLight" charset="0"/>
                <a:cs typeface="Human Sans ExtraLight" charset="0"/>
              </a:rPr>
              <a:t>Broad Knowledge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C8E652-6CE7-F0D6-8644-B97D1D0AA45B}"/>
              </a:ext>
            </a:extLst>
          </p:cNvPr>
          <p:cNvSpPr/>
          <p:nvPr/>
        </p:nvSpPr>
        <p:spPr bwMode="auto">
          <a:xfrm>
            <a:off x="8312371" y="4172708"/>
            <a:ext cx="533400" cy="2188898"/>
          </a:xfrm>
          <a:prstGeom prst="rect">
            <a:avLst/>
          </a:prstGeom>
          <a:gradFill>
            <a:gsLst>
              <a:gs pos="73000">
                <a:srgbClr val="FFC000"/>
              </a:gs>
              <a:gs pos="8700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  <a:effectLst/>
        </p:spPr>
        <p:txBody>
          <a:bodyPr vert="vert" wrap="none" rtlCol="0" anchor="ctr"/>
          <a:lstStyle/>
          <a:p>
            <a:pPr algn="ctr"/>
            <a:r>
              <a:rPr lang="en-US" b="1" dirty="0">
                <a:latin typeface="Bodoni MT Black" panose="02070A03080606020203" pitchFamily="18" charset="0"/>
                <a:ea typeface="Human Sans ExtraLight" charset="0"/>
                <a:cs typeface="Human Sans ExtraLight" charset="0"/>
              </a:rPr>
              <a:t>Specialist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7AADF5-6ABE-692D-3DBC-C4FB3CD1FDBA}"/>
              </a:ext>
            </a:extLst>
          </p:cNvPr>
          <p:cNvSpPr/>
          <p:nvPr/>
        </p:nvSpPr>
        <p:spPr bwMode="auto">
          <a:xfrm>
            <a:off x="9198431" y="4172708"/>
            <a:ext cx="533400" cy="2181497"/>
          </a:xfrm>
          <a:prstGeom prst="rect">
            <a:avLst/>
          </a:prstGeom>
          <a:gradFill>
            <a:gsLst>
              <a:gs pos="38000">
                <a:srgbClr val="FFC000"/>
              </a:gs>
              <a:gs pos="6900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  <a:effectLst/>
        </p:spPr>
        <p:txBody>
          <a:bodyPr vert="vert" wrap="none" rtlCol="0" anchor="ctr"/>
          <a:lstStyle/>
          <a:p>
            <a:pPr algn="ctr"/>
            <a:r>
              <a:rPr lang="en-US" b="1" dirty="0">
                <a:latin typeface="Bodoni MT Black" panose="02070A03080606020203" pitchFamily="18" charset="0"/>
                <a:ea typeface="Human Sans ExtraLight" charset="0"/>
                <a:cs typeface="Human Sans ExtraLight" charset="0"/>
              </a:rPr>
              <a:t>Specialist</a:t>
            </a:r>
            <a:endParaRPr lang="en-US" sz="2400" b="1" dirty="0">
              <a:latin typeface="Bodoni MT Black" panose="02070A03080606020203" pitchFamily="18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014D9C-2AD2-337F-D929-2DADDA4B38BF}"/>
              </a:ext>
            </a:extLst>
          </p:cNvPr>
          <p:cNvSpPr/>
          <p:nvPr/>
        </p:nvSpPr>
        <p:spPr bwMode="auto">
          <a:xfrm>
            <a:off x="10078280" y="4172707"/>
            <a:ext cx="533400" cy="2181497"/>
          </a:xfrm>
          <a:prstGeom prst="rect">
            <a:avLst/>
          </a:prstGeom>
          <a:gradFill>
            <a:gsLst>
              <a:gs pos="60000">
                <a:srgbClr val="FFC000"/>
              </a:gs>
              <a:gs pos="8100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  <a:effectLst/>
        </p:spPr>
        <p:txBody>
          <a:bodyPr vert="vert" wrap="none" rtlCol="0" anchor="ctr"/>
          <a:lstStyle/>
          <a:p>
            <a:pPr algn="ctr"/>
            <a:r>
              <a:rPr lang="en-US" b="1" dirty="0">
                <a:latin typeface="Bodoni MT Black" panose="02070A03080606020203" pitchFamily="18" charset="0"/>
                <a:ea typeface="Human Sans ExtraLight" charset="0"/>
                <a:cs typeface="Human Sans ExtraLight" charset="0"/>
              </a:rPr>
              <a:t>Specialist</a:t>
            </a:r>
            <a:endParaRPr lang="en-US" sz="2400" b="1" dirty="0">
              <a:latin typeface="Bodoni MT Black" panose="02070A03080606020203" pitchFamily="18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385881-E81C-7FE5-B195-17E9386325CA}"/>
              </a:ext>
            </a:extLst>
          </p:cNvPr>
          <p:cNvSpPr/>
          <p:nvPr/>
        </p:nvSpPr>
        <p:spPr bwMode="auto">
          <a:xfrm>
            <a:off x="1615400" y="4172706"/>
            <a:ext cx="533400" cy="2181497"/>
          </a:xfrm>
          <a:prstGeom prst="rect">
            <a:avLst/>
          </a:prstGeom>
          <a:gradFill>
            <a:gsLst>
              <a:gs pos="71000">
                <a:srgbClr val="FFC000"/>
              </a:gs>
              <a:gs pos="8900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  <a:effectLst/>
        </p:spPr>
        <p:txBody>
          <a:bodyPr vert="vert" wrap="none" rtlCol="0" anchor="ctr"/>
          <a:lstStyle/>
          <a:p>
            <a:pPr algn="ctr"/>
            <a:r>
              <a:rPr lang="en-US" b="1" dirty="0">
                <a:latin typeface="Bodoni MT Black" panose="02070A03080606020203" pitchFamily="18" charset="0"/>
                <a:ea typeface="Human Sans ExtraLight" charset="0"/>
                <a:cs typeface="Human Sans ExtraLight" charset="0"/>
              </a:rPr>
              <a:t>Specialist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9EABE2E5-8F81-B018-8673-424CA092B81F}"/>
              </a:ext>
            </a:extLst>
          </p:cNvPr>
          <p:cNvSpPr txBox="1">
            <a:spLocks/>
          </p:cNvSpPr>
          <p:nvPr/>
        </p:nvSpPr>
        <p:spPr>
          <a:xfrm>
            <a:off x="633632" y="1529005"/>
            <a:ext cx="10896600" cy="27222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0" i="0" kern="1200">
                <a:solidFill>
                  <a:schemeClr val="bg1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lang="en-US" sz="1400" b="0" i="0" kern="12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Font typeface="Courier New" panose="02070309020205020404" pitchFamily="49" charset="0"/>
              <a:buChar char="o"/>
              <a:defRPr lang="en-US" sz="1200" b="0" i="0" kern="12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US" sz="1200" b="0" i="0" kern="1200" dirty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US" sz="1200" b="0" i="0" kern="1200" dirty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- I-shaped: deep specialist, one domain</a:t>
            </a:r>
          </a:p>
          <a:p>
            <a:r>
              <a:rPr lang="en-US" sz="2000" dirty="0"/>
              <a:t>- T-shaped: genuine depth + breadth to bridge, translate, and wear multiple hats</a:t>
            </a:r>
          </a:p>
          <a:p>
            <a:r>
              <a:rPr lang="en-US" sz="2000" dirty="0"/>
              <a:t>- Pi-shaped: two areas of expertise</a:t>
            </a:r>
          </a:p>
          <a:p>
            <a:r>
              <a:rPr lang="en-US" sz="2000" dirty="0"/>
              <a:t>- M-shaped: multiple peaks of expertise — </a:t>
            </a:r>
            <a:r>
              <a:rPr lang="en-US" sz="2000" b="1" dirty="0">
                <a:solidFill>
                  <a:schemeClr val="accent2"/>
                </a:solidFill>
              </a:rPr>
              <a:t>AI amplifies each peak, but zero multiplied by AI still zero</a:t>
            </a:r>
          </a:p>
        </p:txBody>
      </p:sp>
    </p:spTree>
    <p:extLst>
      <p:ext uri="{BB962C8B-B14F-4D97-AF65-F5344CB8AC3E}">
        <p14:creationId xmlns:p14="http://schemas.microsoft.com/office/powerpoint/2010/main" val="2869276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23950" y="1762728"/>
            <a:ext cx="10248900" cy="2492990"/>
          </a:xfrm>
        </p:spPr>
        <p:txBody>
          <a:bodyPr/>
          <a:lstStyle/>
          <a:p>
            <a:r>
              <a:rPr sz="5400" dirty="0"/>
              <a:t>An </a:t>
            </a:r>
            <a:r>
              <a:rPr sz="5400" dirty="0">
                <a:solidFill>
                  <a:schemeClr val="accent2"/>
                </a:solidFill>
              </a:rPr>
              <a:t>AI</a:t>
            </a:r>
            <a:r>
              <a:rPr sz="5400" dirty="0"/>
              <a:t> augmented average engineer could match the experienced </a:t>
            </a:r>
            <a:r>
              <a:rPr sz="5400" i="1" dirty="0">
                <a:solidFill>
                  <a:schemeClr val="accent2"/>
                </a:solidFill>
              </a:rPr>
              <a:t>in coding</a:t>
            </a:r>
            <a:r>
              <a:rPr sz="5400" dirty="0"/>
              <a:t>.</a:t>
            </a:r>
            <a:r>
              <a:rPr lang="en-US" sz="5400" dirty="0"/>
              <a:t>”</a:t>
            </a:r>
            <a:endParaRPr sz="54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1123950" y="4787193"/>
            <a:ext cx="4554537" cy="215444"/>
          </a:xfrm>
        </p:spPr>
        <p:txBody>
          <a:bodyPr/>
          <a:lstStyle/>
          <a:p>
            <a:r>
              <a:rPr dirty="0"/>
              <a:t>Not in judgement or broad experience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A REAL-WORLD EXAMPLE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633631" y="2916936"/>
            <a:ext cx="5353511" cy="3521964"/>
          </a:xfrm>
        </p:spPr>
        <p:txBody>
          <a:bodyPr/>
          <a:lstStyle/>
          <a:p>
            <a:r>
              <a:rPr sz="1800" dirty="0"/>
              <a:t>A customer needed Python for a multi-terabyte file migration using 3</a:t>
            </a:r>
            <a:r>
              <a:rPr sz="1800" baseline="30000" dirty="0"/>
              <a:t>rd</a:t>
            </a:r>
            <a:r>
              <a:rPr sz="1800" dirty="0"/>
              <a:t> party APIs. I am not a Python developer. But I volunteered — and ran the entire project end-to-end alone: architect, PM, developer, reviewer. </a:t>
            </a:r>
            <a:r>
              <a:rPr sz="1800" b="1" dirty="0">
                <a:solidFill>
                  <a:schemeClr val="accent2"/>
                </a:solidFill>
              </a:rPr>
              <a:t>The M-shaped profile was not the outcome. It was the prerequisite</a:t>
            </a:r>
            <a:r>
              <a:rPr sz="1800" dirty="0"/>
              <a:t>.</a:t>
            </a:r>
          </a:p>
          <a:p>
            <a:endParaRPr lang="en-US" sz="1800" dirty="0"/>
          </a:p>
          <a:p>
            <a:r>
              <a:rPr lang="en-US" sz="1800" dirty="0"/>
              <a:t>BMAD-Method team of agents made all the leg work, I just orchestrated</a:t>
            </a:r>
          </a:p>
          <a:p>
            <a:endParaRPr lang="en-US" sz="1800" dirty="0"/>
          </a:p>
          <a:p>
            <a:r>
              <a:rPr lang="en-US" sz="1800" dirty="0"/>
              <a:t>Two weeks of project saved</a:t>
            </a:r>
            <a:endParaRPr sz="18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7C6F6AF-8788-E43E-8F36-ACD625FA02DC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t="5586" b="5586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25"/>
          </p:nvPr>
        </p:nvSpPr>
        <p:spPr>
          <a:xfrm>
            <a:off x="633632" y="948837"/>
            <a:ext cx="4648200" cy="1771191"/>
          </a:xfrm>
        </p:spPr>
        <p:txBody>
          <a:bodyPr/>
          <a:lstStyle/>
          <a:p>
            <a:r>
              <a:rPr dirty="0"/>
              <a:t>The Data Migration Project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633632" y="2406797"/>
            <a:ext cx="4648200" cy="430887"/>
          </a:xfrm>
        </p:spPr>
        <p:txBody>
          <a:bodyPr/>
          <a:lstStyle/>
          <a:p>
            <a:r>
              <a:rPr dirty="0"/>
              <a:t>One architect </a:t>
            </a:r>
            <a:r>
              <a:rPr lang="en-US" dirty="0"/>
              <a:t>–</a:t>
            </a:r>
            <a:r>
              <a:rPr dirty="0"/>
              <a:t> all roles. Python project. No Python developer needed.</a:t>
            </a:r>
          </a:p>
        </p:txBody>
      </p:sp>
    </p:spTree>
    <p:extLst>
      <p:ext uri="{BB962C8B-B14F-4D97-AF65-F5344CB8AC3E}">
        <p14:creationId xmlns:p14="http://schemas.microsoft.com/office/powerpoint/2010/main" val="24180311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300" y="1968918"/>
            <a:ext cx="10869110" cy="2031325"/>
          </a:xfrm>
        </p:spPr>
        <p:txBody>
          <a:bodyPr/>
          <a:lstStyle/>
          <a:p>
            <a:r>
              <a:rPr dirty="0"/>
              <a:t>The Program Language Certification Question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What is still worth your time?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/>
              <a:t>05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23950" y="1715534"/>
            <a:ext cx="10248900" cy="3077766"/>
          </a:xfrm>
        </p:spPr>
        <p:txBody>
          <a:bodyPr/>
          <a:lstStyle/>
          <a:p>
            <a:r>
              <a:rPr lang="en-US" sz="4000" dirty="0"/>
              <a:t>The developer who spends the next five years perfecting their syntax mastery is making the same bet the Assembly programmer made in 1975 ”</a:t>
            </a:r>
            <a:br>
              <a:rPr lang="en-US" sz="4000" b="0" dirty="0"/>
            </a:br>
            <a:endParaRPr sz="40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1123950" y="4231608"/>
            <a:ext cx="4554537" cy="215444"/>
          </a:xfrm>
        </p:spPr>
        <p:txBody>
          <a:bodyPr/>
          <a:lstStyle/>
          <a:p>
            <a:r>
              <a:rPr lang="en-US" dirty="0"/>
              <a:t>and we know how that story ended</a:t>
            </a:r>
            <a:endParaRPr lang="en-US" b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C99D2-CEDC-FA15-C194-5AA9AD2E9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395B736-356E-EE44-0C07-09C8041982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414280-22E9-C1B6-0A36-0C9833FC0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0" y="1762728"/>
            <a:ext cx="10676164" cy="1661993"/>
          </a:xfrm>
        </p:spPr>
        <p:txBody>
          <a:bodyPr/>
          <a:lstStyle/>
          <a:p>
            <a:r>
              <a:rPr sz="5400" dirty="0"/>
              <a:t>Why hyper-specialize in one language when you speak them all?</a:t>
            </a:r>
            <a:r>
              <a:rPr lang="en-US" sz="5400" dirty="0"/>
              <a:t>”</a:t>
            </a:r>
            <a:endParaRPr sz="5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F49530-1876-E65C-0E18-17FBCD80DD5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The new question</a:t>
            </a:r>
          </a:p>
        </p:txBody>
      </p:sp>
    </p:spTree>
    <p:extLst>
      <p:ext uri="{BB962C8B-B14F-4D97-AF65-F5344CB8AC3E}">
        <p14:creationId xmlns:p14="http://schemas.microsoft.com/office/powerpoint/2010/main" val="29452208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Getting a language program certification is not worth it.</a:t>
            </a:r>
            <a:r>
              <a:rPr lang="en-US" dirty="0"/>
              <a:t>”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1123950" y="4231608"/>
            <a:ext cx="4554537" cy="430887"/>
          </a:xfrm>
        </p:spPr>
        <p:txBody>
          <a:bodyPr/>
          <a:lstStyle/>
          <a:p>
            <a:r>
              <a:rPr dirty="0"/>
              <a:t>Is not easy to say it, </a:t>
            </a:r>
            <a:r>
              <a:rPr lang="en-US" dirty="0"/>
              <a:t>but expanding knowledge is more valuable than delving deeper into it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Today's languages will become the COBOL of the future.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The real revolution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best programming language for AI is English!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1123950" y="4231608"/>
            <a:ext cx="4554537" cy="215444"/>
          </a:xfrm>
        </p:spPr>
        <p:txBody>
          <a:bodyPr/>
          <a:lstStyle/>
          <a:p>
            <a:r>
              <a:rPr dirty="0"/>
              <a:t>Or your native human language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Edgar Alvarez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Head of Core Engineering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edgar_alvarez1@epam.com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PAM Master Dark 2023.1">
  <a:themeElements>
    <a:clrScheme name="EPAM Dark Palette">
      <a:dk1>
        <a:srgbClr val="000000"/>
      </a:dk1>
      <a:lt1>
        <a:srgbClr val="FFFFFF"/>
      </a:lt1>
      <a:dk2>
        <a:srgbClr val="A0A0A0"/>
      </a:dk2>
      <a:lt2>
        <a:srgbClr val="FBFAFA"/>
      </a:lt2>
      <a:accent1>
        <a:srgbClr val="060606"/>
      </a:accent1>
      <a:accent2>
        <a:srgbClr val="00F6FF"/>
      </a:accent2>
      <a:accent3>
        <a:srgbClr val="B896FF"/>
      </a:accent3>
      <a:accent4>
        <a:srgbClr val="7BA8FF"/>
      </a:accent4>
      <a:accent5>
        <a:srgbClr val="418DFF"/>
      </a:accent5>
      <a:accent6>
        <a:srgbClr val="00F3AB"/>
      </a:accent6>
      <a:hlink>
        <a:srgbClr val="060606"/>
      </a:hlink>
      <a:folHlink>
        <a:srgbClr val="000000"/>
      </a:folHlink>
    </a:clrScheme>
    <a:fontScheme name="EPAM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none" rtlCol="0" anchor="ctr"/>
      <a:lstStyle>
        <a:defPPr algn="ctr">
          <a:defRPr sz="2400" dirty="0" err="1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110000"/>
          </a:lnSpc>
          <a:spcBef>
            <a:spcPts val="600"/>
          </a:spcBef>
          <a:defRPr sz="1200" dirty="0" err="1" smtClean="0">
            <a:ea typeface="Human Sans" charset="0"/>
            <a:cs typeface="Human Sans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ntinuum_Master_v1.1" id="{D2F91407-39AD-2344-8F42-01B4155FF2FD}" vid="{09F1F252-BD3A-0A45-9F6B-518524EA32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28E1D5709B20479E02E4DACF859060" ma:contentTypeVersion="13" ma:contentTypeDescription="Create a new document." ma:contentTypeScope="" ma:versionID="717510ec029f2739c3ef846a9dd7aa34">
  <xsd:schema xmlns:xsd="http://www.w3.org/2001/XMLSchema" xmlns:xs="http://www.w3.org/2001/XMLSchema" xmlns:p="http://schemas.microsoft.com/office/2006/metadata/properties" xmlns:ns2="32ffb8b9-b7fc-4aab-9873-53396b75472c" xmlns:ns3="8329520d-12ec-42e4-b043-269816a91755" targetNamespace="http://schemas.microsoft.com/office/2006/metadata/properties" ma:root="true" ma:fieldsID="2de90ad08931cd3d9fe339940b563454" ns2:_="" ns3:_="">
    <xsd:import namespace="32ffb8b9-b7fc-4aab-9873-53396b75472c"/>
    <xsd:import namespace="8329520d-12ec-42e4-b043-269816a9175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ffb8b9-b7fc-4aab-9873-53396b75472c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debda6a7-6b37-4000-ac6c-4fd0a96389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29520d-12ec-42e4-b043-269816a91755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3c8d86b8-cecb-4421-b40e-297fd8a3250e}" ma:internalName="TaxCatchAll" ma:showField="CatchAllData" ma:web="8329520d-12ec-42e4-b043-269816a917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073E462-AB22-4D40-9ECA-081A34A40D4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1BFF0A0-C01F-42F9-95E8-72F7C5B69B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ffb8b9-b7fc-4aab-9873-53396b75472c"/>
    <ds:schemaRef ds:uri="8329520d-12ec-42e4-b043-269816a917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4628</TotalTime>
  <Words>971</Words>
  <Application>Microsoft Office PowerPoint</Application>
  <PresentationFormat>Widescreen</PresentationFormat>
  <Paragraphs>154</Paragraphs>
  <Slides>27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Bodoni MT Black</vt:lpstr>
      <vt:lpstr>Calibri</vt:lpstr>
      <vt:lpstr>Calibri Light</vt:lpstr>
      <vt:lpstr>Courier New</vt:lpstr>
      <vt:lpstr>Human Sans</vt:lpstr>
      <vt:lpstr>EPAM Master Dark 2023.1</vt:lpstr>
      <vt:lpstr>PowerPoint Presentation</vt:lpstr>
      <vt:lpstr>Contents</vt:lpstr>
      <vt:lpstr>The Assembly Programmer Parallel</vt:lpstr>
      <vt:lpstr>When COBOL Arrived</vt:lpstr>
      <vt:lpstr>Change is like radiation. You don't feel it but it's all around you. ”</vt:lpstr>
      <vt:lpstr>A New Abstraction Layer</vt:lpstr>
      <vt:lpstr>You are the Assembly programmer of today. ”</vt:lpstr>
      <vt:lpstr>The Paradigm Inversion</vt:lpstr>
      <vt:lpstr>The machine understands human language now.”</vt:lpstr>
      <vt:lpstr>What This Means in Practice</vt:lpstr>
      <vt:lpstr>Spec-Driven Development</vt:lpstr>
      <vt:lpstr>Every Generation Freed Us to Think Higher</vt:lpstr>
      <vt:lpstr>What SDD Changes</vt:lpstr>
      <vt:lpstr>Good grammar will matter as much as good syntax.”</vt:lpstr>
      <vt:lpstr>The lack of specs will become the technical debt of the future.”</vt:lpstr>
      <vt:lpstr>Four Engineer Shapes</vt:lpstr>
      <vt:lpstr>I, T, Pi, and M-Shaped Engineers</vt:lpstr>
      <vt:lpstr>I, T, Pi, and M-Shaped Engineers</vt:lpstr>
      <vt:lpstr>An AI augmented average engineer could match the experienced in coding.”</vt:lpstr>
      <vt:lpstr>PowerPoint Presentation</vt:lpstr>
      <vt:lpstr>The Program Language Certification Question</vt:lpstr>
      <vt:lpstr>The developer who spends the next five years perfecting their syntax mastery is making the same bet the Assembly programmer made in 1975 ” </vt:lpstr>
      <vt:lpstr>Why hyper-specialize in one language when you speak them all?”</vt:lpstr>
      <vt:lpstr>Getting a language program certification is not worth it.”</vt:lpstr>
      <vt:lpstr>Today's languages will become the COBOL of the future.</vt:lpstr>
      <vt:lpstr>The best programming language for AI is English!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Palina Vilava</dc:creator>
  <cp:lastModifiedBy>Edgar Alvarez1</cp:lastModifiedBy>
  <cp:revision>22</cp:revision>
  <dcterms:created xsi:type="dcterms:W3CDTF">2020-10-26T14:33:58Z</dcterms:created>
  <dcterms:modified xsi:type="dcterms:W3CDTF">2026-04-17T14:11:42Z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535040-0af2-483f-adc3-a132c21e3e2b_Enabled">
    <vt:lpwstr>true</vt:lpwstr>
  </property>
  <property fmtid="{D5CDD505-2E9C-101B-9397-08002B2CF9AE}" pid="3" name="MSIP_Label_2a535040-0af2-483f-adc3-a132c21e3e2b_SetDate">
    <vt:lpwstr>2023-03-14T21:10:24Z</vt:lpwstr>
  </property>
  <property fmtid="{D5CDD505-2E9C-101B-9397-08002B2CF9AE}" pid="4" name="MSIP_Label_2a535040-0af2-483f-adc3-a132c21e3e2b_Method">
    <vt:lpwstr>Standard</vt:lpwstr>
  </property>
  <property fmtid="{D5CDD505-2E9C-101B-9397-08002B2CF9AE}" pid="5" name="MSIP_Label_2a535040-0af2-483f-adc3-a132c21e3e2b_Name">
    <vt:lpwstr>EPAM_Confidential</vt:lpwstr>
  </property>
  <property fmtid="{D5CDD505-2E9C-101B-9397-08002B2CF9AE}" pid="6" name="MSIP_Label_2a535040-0af2-483f-adc3-a132c21e3e2b_SiteId">
    <vt:lpwstr>b41b72d0-4e9f-4c26-8a69-f949f367c91d</vt:lpwstr>
  </property>
  <property fmtid="{D5CDD505-2E9C-101B-9397-08002B2CF9AE}" pid="7" name="MSIP_Label_2a535040-0af2-483f-adc3-a132c21e3e2b_ActionId">
    <vt:lpwstr>2c67b1d1-7390-4dc7-8d39-72425cfc121d</vt:lpwstr>
  </property>
  <property fmtid="{D5CDD505-2E9C-101B-9397-08002B2CF9AE}" pid="8" name="MSIP_Label_2a535040-0af2-483f-adc3-a132c21e3e2b_ContentBits">
    <vt:lpwstr>0</vt:lpwstr>
  </property>
</Properties>
</file>