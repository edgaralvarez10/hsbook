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3"/>
  </p:sldMasterIdLst>
  <p:notesMasterIdLst>
    <p:notesMasterId r:id="rId44"/>
  </p:notesMasterIdLst>
  <p:handoutMasterIdLst>
    <p:handoutMasterId r:id="rId45"/>
  </p:handoutMasterIdLst>
  <p:sldIdLst>
    <p:sldId id="256" r:id="rId4"/>
    <p:sldId id="257" r:id="rId5"/>
    <p:sldId id="258" r:id="rId6"/>
    <p:sldId id="259" r:id="rId7"/>
    <p:sldId id="261" r:id="rId8"/>
    <p:sldId id="295" r:id="rId9"/>
    <p:sldId id="293" r:id="rId10"/>
    <p:sldId id="260" r:id="rId11"/>
    <p:sldId id="294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96" r:id="rId28"/>
    <p:sldId id="297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7" r:id="rId39"/>
    <p:sldId id="288" r:id="rId40"/>
    <p:sldId id="289" r:id="rId41"/>
    <p:sldId id="290" r:id="rId42"/>
    <p:sldId id="29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96FF"/>
    <a:srgbClr val="00FFF0"/>
    <a:srgbClr val="00F6FF"/>
    <a:srgbClr val="161616"/>
    <a:srgbClr val="2AFFCC"/>
    <a:srgbClr val="01F5FF"/>
    <a:srgbClr val="D8E763"/>
    <a:srgbClr val="DA0042"/>
    <a:srgbClr val="FF4798"/>
    <a:srgbClr val="FF4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49" autoAdjust="0"/>
    <p:restoredTop sz="94672"/>
  </p:normalViewPr>
  <p:slideViewPr>
    <p:cSldViewPr snapToGrid="0" showGuides="1">
      <p:cViewPr varScale="1">
        <p:scale>
          <a:sx n="98" d="100"/>
          <a:sy n="98" d="100"/>
        </p:scale>
        <p:origin x="96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0AE391-5090-4A20-BB83-AE7944D757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C791-4472-47EB-A5D1-40410E8609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3E989-3A32-4871-848D-A577D002F4D8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89C3D-9323-4256-B98A-37D9853EA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1EE58-95EA-4121-8D8F-D9BF9D78CF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C666C-E93D-47E9-A306-F95DA55A0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9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80DEF-0AD7-4BDB-840C-61DE4010FC3D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68A001-691D-41D9-91DC-B9507CB04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6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5821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Presentation Cover with Longer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10515600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3D84A-3A3E-A95D-16B1-DEAB594B0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74159C-7297-E470-BBCD-D20C41E7AF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Dark"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5825" y="4670399"/>
            <a:ext cx="7068944" cy="4553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6489700" cy="20005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8D4788E-EE52-507E-7D71-0F24A4DBD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5825" y="6403340"/>
            <a:ext cx="1645920" cy="2260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kumimoji="0" lang="en-US" sz="600" b="0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EPAM Proprietary &amp;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86B7FC-77D7-4734-103B-B7BEE343FE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653938"/>
            <a:ext cx="8060366" cy="21031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8200"/>
              </a:lnSpc>
              <a:spcBef>
                <a:spcPts val="0"/>
              </a:spcBef>
              <a:defRPr sz="8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Presentation Cover with Longer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FA4B-8346-1D65-A1A6-BE46B3388E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82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horter_Title_Half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40E1BA6-2B94-3FB9-8A61-22A11D25ED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23008" y="0"/>
            <a:ext cx="606899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DF60C00-4DF7-EA8B-64E5-6D8707C3F1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825" y="4670399"/>
            <a:ext cx="5151216" cy="3725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CED6F17-ABB3-3BF2-0943-BB3D363DB3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825" y="5393921"/>
            <a:ext cx="5185941" cy="20005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00" b="1" i="0" spc="400" baseline="0">
                <a:solidFill>
                  <a:srgbClr val="00F6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DECEMBER 2022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3242F72-C056-2877-37FC-0C0E8E2FA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5825" y="1653938"/>
            <a:ext cx="5139642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Cover with Shorter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237D0-4B7C-4C74-1B34-6585F8B84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716555"/>
            <a:ext cx="658001" cy="24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4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0512"/>
            <a:ext cx="359473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6051" y="154228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6051" y="223535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6051" y="291825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6051" y="3611326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6051" y="4294232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051" y="4977139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8342" y="154228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8342" y="2235353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98342" y="291825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98342" y="3611326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98342" y="4294232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8342" y="4977139"/>
            <a:ext cx="624595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522FB4-D05A-7BBC-4925-8F44384D8BAF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0435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3E4466-9172-11FF-B631-0772F610EC0A}"/>
              </a:ext>
            </a:extLst>
          </p:cNvPr>
          <p:cNvCxnSpPr>
            <a:cxnSpLocks/>
          </p:cNvCxnSpPr>
          <p:nvPr userDrawn="1"/>
        </p:nvCxnSpPr>
        <p:spPr>
          <a:xfrm>
            <a:off x="4828321" y="273615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39B406A-62F3-7DD2-AFDA-098BD84DC9B8}"/>
              </a:ext>
            </a:extLst>
          </p:cNvPr>
          <p:cNvCxnSpPr>
            <a:cxnSpLocks/>
          </p:cNvCxnSpPr>
          <p:nvPr userDrawn="1"/>
        </p:nvCxnSpPr>
        <p:spPr>
          <a:xfrm>
            <a:off x="4828321" y="342873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121306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828321" y="481388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828321" y="5511461"/>
            <a:ext cx="6715979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189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353882"/>
            <a:ext cx="359473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6000" b="0" dirty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F9CE8E-C61D-47C9-7C92-80C8B9BE9261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127679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02BA3F-B120-FB36-1C74-89FF4B905719}"/>
              </a:ext>
            </a:extLst>
          </p:cNvPr>
          <p:cNvCxnSpPr>
            <a:cxnSpLocks/>
          </p:cNvCxnSpPr>
          <p:nvPr userDrawn="1"/>
        </p:nvCxnSpPr>
        <p:spPr>
          <a:xfrm>
            <a:off x="4597093" y="4821255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E237AFC-258A-A0AE-B66B-CB1C869A2032}"/>
              </a:ext>
            </a:extLst>
          </p:cNvPr>
          <p:cNvCxnSpPr>
            <a:cxnSpLocks/>
          </p:cNvCxnSpPr>
          <p:nvPr userDrawn="1"/>
        </p:nvCxnSpPr>
        <p:spPr>
          <a:xfrm>
            <a:off x="4597093" y="551483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38260B-0DC8-F1D9-0A04-B34FD9548DDE}"/>
              </a:ext>
            </a:extLst>
          </p:cNvPr>
          <p:cNvCxnSpPr>
            <a:cxnSpLocks/>
          </p:cNvCxnSpPr>
          <p:nvPr userDrawn="1"/>
        </p:nvCxnSpPr>
        <p:spPr>
          <a:xfrm>
            <a:off x="4597093" y="3434103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4323139-2B65-F98E-4BA6-26EBD4E0A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4801" y="1544424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203F9BF-BF5F-6A91-5F78-9E13CFB346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0" y="1544424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76CC08A-4820-35BC-92E1-8230BD9D360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14801" y="2237970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F7291D4C-4D95-8F05-0F5C-BA39164C82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400" y="2237970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6CEF688-2334-22F4-39C4-5CC9525BC5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14801" y="2931516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6C7F5B96-F4B8-B78A-06A1-1387CE2660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48400" y="2931516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2D20F35-3DAA-AC00-0D89-CD5517054A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14801" y="3625062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CEC68D4-F109-8967-2138-7755BCDA7F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48400" y="3625062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D31E2A1-E7D9-C6E2-1CAD-132E8FC150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14801" y="4318608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FFDA3CA-2B8B-D638-20E4-71AC7A34D7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4318608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57F9336-F799-453A-9AE4-57BF009F4E4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14801" y="5012153"/>
            <a:ext cx="1866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3ACF06D8-4539-871E-68C7-607E709243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8400" y="5012153"/>
            <a:ext cx="5295900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Agenda item here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40C191-15FC-CC2A-76C6-F51F8764B2F0}"/>
              </a:ext>
            </a:extLst>
          </p:cNvPr>
          <p:cNvCxnSpPr>
            <a:cxnSpLocks/>
          </p:cNvCxnSpPr>
          <p:nvPr userDrawn="1"/>
        </p:nvCxnSpPr>
        <p:spPr>
          <a:xfrm>
            <a:off x="4597093" y="2740527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D121A1-59B7-61ED-F9B5-D7F3CF3FA035}"/>
              </a:ext>
            </a:extLst>
          </p:cNvPr>
          <p:cNvCxnSpPr>
            <a:cxnSpLocks/>
          </p:cNvCxnSpPr>
          <p:nvPr userDrawn="1"/>
        </p:nvCxnSpPr>
        <p:spPr>
          <a:xfrm>
            <a:off x="4597094" y="2046951"/>
            <a:ext cx="694944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56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Half_Pag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72483"/>
            <a:ext cx="3594735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93961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BFE2FC0-3FA5-A96D-8741-0967434C45D8}"/>
              </a:ext>
            </a:extLst>
          </p:cNvPr>
          <p:cNvSpPr/>
          <p:nvPr userDrawn="1"/>
        </p:nvSpPr>
        <p:spPr bwMode="auto">
          <a:xfrm>
            <a:off x="7006459" y="0"/>
            <a:ext cx="1507755" cy="1507755"/>
          </a:xfrm>
          <a:prstGeom prst="ellipse">
            <a:avLst/>
          </a:prstGeom>
          <a:solidFill>
            <a:srgbClr val="B896FF"/>
          </a:solidFill>
          <a:ln>
            <a:noFill/>
          </a:ln>
          <a:effectLst>
            <a:softEdge rad="50192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44D886A-7EE9-3D61-5350-BFDC9DEF77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5603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8838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2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825" y="133604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825" y="3126991"/>
            <a:ext cx="455453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202904" y="0"/>
            <a:ext cx="498909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CF198-2C15-1B0B-2941-6BA5258C3280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2"/>
              </a:gs>
              <a:gs pos="17000">
                <a:schemeClr val="accent4">
                  <a:alpha val="79000"/>
                </a:schemeClr>
              </a:gs>
              <a:gs pos="37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83EE370-5755-0FBB-7D84-A96FB6BC6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90735A68-7AD1-6A4F-4FBB-D41773924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49C80-4012-9B9E-C0D6-07426A51E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4B4EE-632B-DECA-21A7-CE4B30649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4AEAE2-ED8B-F9AA-7FD1-83D75695B020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8A49E1C-D7C7-5097-0968-F987FEF5622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4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x_Section_Header_Co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B8FFF1-7BEF-FB67-FD62-E5D324B98FDF}"/>
              </a:ext>
            </a:extLst>
          </p:cNvPr>
          <p:cNvSpPr/>
          <p:nvPr userDrawn="1"/>
        </p:nvSpPr>
        <p:spPr bwMode="auto">
          <a:xfrm>
            <a:off x="620713" y="647700"/>
            <a:ext cx="10969625" cy="5562600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99000">
                <a:schemeClr val="accent6"/>
              </a:gs>
              <a:gs pos="17000">
                <a:schemeClr val="accent4">
                  <a:alpha val="79000"/>
                </a:schemeClr>
              </a:gs>
              <a:gs pos="38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1C718F0-D4A4-9872-BDD6-D7C7A94D7E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400" y="2977260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7C5E3EB5-098F-0D6A-8385-E69FD287B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5240" y="1723225"/>
            <a:ext cx="9601200" cy="1212018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F3FBB37-F96B-0FEB-0FAA-3A60AA0265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5400" y="132842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47CF6-2723-8A78-E571-E5E1D96EE7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3859"/>
            <a:ext cx="495300" cy="1820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B1EED2-CFE5-9449-1191-B818AA5450B2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005ECF6-ECEB-D7EC-6E6C-D560F76EDB1A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0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41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C30E-9F31-D8F5-1E4D-396AE4785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8C437B2-D94C-1848-2A24-39D1B91C9C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887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0FA9B4-7015-F669-A684-04DBF3A80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1089660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77A3A7C-9EA1-F184-A7F0-65CDB16D77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5FFC92-2965-BCAA-1CC8-1CF099E8A9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1211252"/>
            <a:ext cx="10896600" cy="480060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5240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047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00" y="1968918"/>
            <a:ext cx="10869110" cy="203132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Sometimes You Want to Use a </a:t>
            </a:r>
            <a:br>
              <a:rPr lang="en-US" dirty="0"/>
            </a:br>
            <a:r>
              <a:rPr lang="en-US" dirty="0"/>
              <a:t>Subsection Divider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41C214B-0929-47F1-0881-0584DE92D4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460" y="4784228"/>
            <a:ext cx="4757677" cy="492443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This slide can serve you well. It even has a space for a little something under the title.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0F545EE-05C3-C60B-A33C-54CA3165B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460" y="1071880"/>
            <a:ext cx="498928" cy="30777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gradFill>
                  <a:gsLst>
                    <a:gs pos="0">
                      <a:srgbClr val="00FFF0"/>
                    </a:gs>
                    <a:gs pos="44000">
                      <a:srgbClr val="00F6FF"/>
                    </a:gs>
                    <a:gs pos="75000">
                      <a:srgbClr val="B896FF"/>
                    </a:gs>
                  </a:gsLst>
                  <a:lin ang="1800000" scaled="0"/>
                </a:gra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8048DD2-9EC2-D0E6-390B-D6FEF7F7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460" y="1563803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3F60-C785-55F7-FFFA-6777E5B0CF19}"/>
              </a:ext>
            </a:extLst>
          </p:cNvPr>
          <p:cNvSpPr txBox="1"/>
          <p:nvPr userDrawn="1"/>
        </p:nvSpPr>
        <p:spPr>
          <a:xfrm>
            <a:off x="905069" y="647544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730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540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DF0B1-39A8-66D2-5901-784B6426A5B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F04122-42C2-36BC-47CE-0B679AD5BEF4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B58A26-A489-E0C7-76A6-353A0E98D08D}"/>
              </a:ext>
            </a:extLst>
          </p:cNvPr>
          <p:cNvSpPr txBox="1">
            <a:spLocks/>
          </p:cNvSpPr>
          <p:nvPr userDrawn="1"/>
        </p:nvSpPr>
        <p:spPr>
          <a:xfrm>
            <a:off x="633632" y="722842"/>
            <a:ext cx="5341718" cy="3439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Title Goes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4550C39-4E9B-6498-10DD-2EE07D4692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95335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_Tex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3295A6AC-FD32-C87C-6A0D-33F65D81B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0EFDF222-F5FF-C5FC-328A-D04186600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13" y="1739153"/>
            <a:ext cx="5333999" cy="27699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0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When You Have a Big Thought That is Paired…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201" y="1981200"/>
            <a:ext cx="4610100" cy="243938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400"/>
              </a:lnSpc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With a lot of supporting details.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35227-E4B8-E7D7-CFC8-BEC6F4696E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59128"/>
            <a:ext cx="495300" cy="182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98434BA-C643-9226-9074-622A044FD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071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B89EA330-0A46-587B-303A-AB92923709B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713" y="722843"/>
            <a:ext cx="37599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1" i="0" spc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Title with Big and Little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13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B310E8-6618-FE08-E6DC-00BA11F812CC}"/>
              </a:ext>
            </a:extLst>
          </p:cNvPr>
          <p:cNvSpPr/>
          <p:nvPr userDrawn="1"/>
        </p:nvSpPr>
        <p:spPr bwMode="auto">
          <a:xfrm>
            <a:off x="4383741" y="0"/>
            <a:ext cx="7808259" cy="6858000"/>
          </a:xfrm>
          <a:prstGeom prst="rect">
            <a:avLst/>
          </a:prstGeom>
          <a:solidFill>
            <a:srgbClr val="FBFAFA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rgbClr val="FBFAFA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A3697B-75D8-F270-FA16-FF1CAED387B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88C32-A814-A30F-E410-D8FFB09D466B}"/>
              </a:ext>
            </a:extLst>
          </p:cNvPr>
          <p:cNvSpPr txBox="1">
            <a:spLocks/>
          </p:cNvSpPr>
          <p:nvPr userDrawn="1"/>
        </p:nvSpPr>
        <p:spPr>
          <a:xfrm>
            <a:off x="1135279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B55100E-75B5-2C7B-2A86-042FF5C3A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FDB60C-4B68-3EAD-E6FA-B4039FD58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3299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2_photos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9BE9A04-ECA1-501C-8903-EB031E3BF5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photos. 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47D220DB-753D-9009-E3B2-968BCB126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8600" y="948209"/>
            <a:ext cx="3695700" cy="4678080"/>
          </a:xfrm>
          <a:prstGeom prst="rect">
            <a:avLst/>
          </a:prstGeom>
        </p:spPr>
      </p:pic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93BAF3BA-506C-CEDE-31A8-0E2F7E862A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60594" y="948210"/>
            <a:ext cx="2705674" cy="21751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27D40C-5450-0B96-10EC-7A6EB8067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4D7BC14-B8F4-8C70-3780-52E71B389E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2945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photos. 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52C79-B543-C221-B6BE-B72B78C48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0A19AA13-C08A-D0E6-EC94-5A71061E59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27794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+1_Photo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53C0E95-F19E-0ED7-FE2B-237DA02AA1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1981200"/>
            <a:ext cx="3346076" cy="49622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few sentences of type and supporting photos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6A70B9E-D366-36CB-4835-845ACD985B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067300" y="922229"/>
            <a:ext cx="6477000" cy="4710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3930C0-6C91-A5B6-792F-04CF2D36D2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611880" cy="343957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15DEBE63-B16C-3AD7-6270-ECA63D2C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61188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35540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_Lar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rgbClr val="000000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199F3-8BE2-BBEA-427A-5AD0BBF888B3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BDB76AC-B244-C159-B205-D8B830CCA43A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92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</a:t>
            </a:r>
          </a:p>
          <a:p>
            <a:pPr lvl="0"/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093B7-84AC-4D63-2502-6D71BFDF8DB8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F95B6-7091-82B3-BCAB-D9319A03C7C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96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1_Person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3CE1C1-8D34-F5FB-A65B-3074985EA7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3632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916936"/>
            <a:ext cx="4648200" cy="254807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Eros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at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Leo dui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 Cras sit integer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Magna in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. </a:t>
            </a:r>
            <a:r>
              <a:rPr lang="en-US" dirty="0" err="1"/>
              <a:t>Netus</a:t>
            </a:r>
            <a:r>
              <a:rPr lang="en-US" dirty="0"/>
              <a:t> diam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proin</a:t>
            </a:r>
            <a:r>
              <a:rPr lang="en-US" dirty="0"/>
              <a:t> fermentum </a:t>
            </a:r>
            <a:r>
              <a:rPr lang="en-US" dirty="0" err="1"/>
              <a:t>egestas</a:t>
            </a:r>
            <a:r>
              <a:rPr lang="en-US" dirty="0"/>
              <a:t> et </a:t>
            </a:r>
            <a:r>
              <a:rPr lang="en-US" dirty="0" err="1"/>
              <a:t>quis</a:t>
            </a:r>
            <a:r>
              <a:rPr lang="en-US" dirty="0"/>
              <a:t>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3F3B94-3699-B384-69C0-18FFCB0A6F0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092952" y="0"/>
            <a:ext cx="6099048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F33CF80-FFEB-A0A3-96C3-70C36A76E5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3632" y="948837"/>
            <a:ext cx="3467100" cy="118128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4400" b="0" i="0" spc="0">
                <a:gradFill>
                  <a:gsLst>
                    <a:gs pos="0">
                      <a:srgbClr val="00F6FF"/>
                    </a:gs>
                    <a:gs pos="57000">
                      <a:srgbClr val="00FFF0"/>
                    </a:gs>
                    <a:gs pos="100000">
                      <a:srgbClr val="B896FF"/>
                    </a:gs>
                  </a:gsLst>
                  <a:lin ang="36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</a:t>
            </a:r>
          </a:p>
          <a:p>
            <a:pPr lvl="0"/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8993B1-0A80-3A00-9ABA-D943C84F94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2406797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EB0807-0658-010A-4800-47A758C6FB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D8A55-0F08-8A7E-D808-C2A3A3FF7E9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F63EE3-B677-73F5-4D60-6EEFC0FE2006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857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C498510-4A43-03CD-36C1-2A8353B4C50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818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A7FE39D-9B2F-3A82-4481-DEBB42062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337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9B77B-934C-404B-9904-C2D7E70C890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1BBAC43-9697-89D1-1C2F-02929E0454D3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75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2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0CE64FB-25EE-A414-B066-FC99784E85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A836C28-DF9E-9EF6-F137-8474B6C084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43700" y="4890116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8A42E0B9-1EB1-1EAF-142C-C1A8686CF7F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9048" cy="3657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5AE9A1E-2209-0966-CD00-6DBDADBB19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 </a:t>
            </a:r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70C6AC1-AA2F-89B9-2D44-315F603238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29FB170-8BDC-CF05-AC75-D03AEB222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43700" y="3869172"/>
            <a:ext cx="3467100" cy="5643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3600" b="0" i="0" spc="0">
                <a:gradFill>
                  <a:gsLst>
                    <a:gs pos="0">
                      <a:srgbClr val="00F6FF"/>
                    </a:gs>
                    <a:gs pos="64000">
                      <a:srgbClr val="00FFF0"/>
                    </a:gs>
                    <a:gs pos="98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 </a:t>
            </a:r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3F46C9-B563-1ABE-3DDB-DDB91319F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43700" y="4521015"/>
            <a:ext cx="46482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03792-0661-4AB0-55E4-3A640B87E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8702D3-DFB2-CABB-A601-21371216F8D5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78B45B-DA79-15A1-EC93-AADC579ADA4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77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1ABE214-CBB4-3A34-095A-0370A5C4AF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F2075-AD33-0E1E-1658-146B3E4E2FCC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040519E-0144-D61F-8E0C-52A5A9F6F1D7}"/>
              </a:ext>
            </a:extLst>
          </p:cNvPr>
          <p:cNvSpPr txBox="1">
            <a:spLocks/>
          </p:cNvSpPr>
          <p:nvPr userDrawn="1"/>
        </p:nvSpPr>
        <p:spPr>
          <a:xfrm>
            <a:off x="113290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856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r_People_3_People_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0EAEC-268C-5162-974B-8A89C7C017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7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Name </a:t>
            </a:r>
            <a:r>
              <a:rPr lang="en-US" dirty="0" err="1">
                <a:effectLst/>
              </a:rPr>
              <a:t>Lastname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77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77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7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F6FF"/>
                    </a:gs>
                    <a:gs pos="70000">
                      <a:srgbClr val="00FFF0"/>
                    </a:gs>
                    <a:gs pos="99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B18FCDA-6157-DD00-EDF9-0F787E8060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419100"/>
            <a:ext cx="34671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i="0" spc="3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D6A39-8EF9-9CA0-AA7E-45DB798A90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09E2-3B1E-50D2-B2BC-867833D702D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E22721-BCDB-A1E7-59E5-A4DE62992615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33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469009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24890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accent2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+Imag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DEA029-C2BF-93AE-56B7-39E611F58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6415709"/>
            <a:ext cx="495300" cy="182096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F9EF5-29E8-93D3-E218-354474130A6A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1A170-BC35-F789-C222-B52ABECE94F7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EC108-AFBF-BADD-5D48-8FC6C371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197" y="419100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327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774970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+Image_Black_Blu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33DDFE8-68E0-F21D-DCE9-D9E38F969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122" y="420624"/>
            <a:ext cx="3732914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 b="0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SECTION TITLE</a:t>
            </a:r>
            <a:endParaRPr lang="en-US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E4D0B811-ED8A-9D55-BC17-49A339380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1684" y="1455006"/>
            <a:ext cx="6452616" cy="22159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slightly longer quote. Sometimes you need to add a slightly longer quote.”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15767D7-CA92-A238-92D2-5F669365D4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91683" y="4434840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93D416F1-8A75-DCD6-2A1A-B16BE09ABC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34347" y="1562100"/>
            <a:ext cx="3726051" cy="4100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8EB1EBBF-7474-72D1-50C0-54A45DCBFB2E}"/>
              </a:ext>
            </a:extLst>
          </p:cNvPr>
          <p:cNvSpPr txBox="1">
            <a:spLocks/>
          </p:cNvSpPr>
          <p:nvPr userDrawn="1"/>
        </p:nvSpPr>
        <p:spPr>
          <a:xfrm>
            <a:off x="4772719" y="1455006"/>
            <a:ext cx="294582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rgbClr val="000000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492201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mal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55701-65C9-97B2-64E0-82F53FA377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14501"/>
            <a:ext cx="10896600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93B36D-BA2E-1899-D9F4-FEAD1083B6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252472"/>
            <a:ext cx="10896600" cy="1136904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When you just have a bunch of type and don’t want to try too hard. Lorem ipsum diam fames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habitasse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porta,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gravida </a:t>
            </a:r>
            <a:r>
              <a:rPr lang="en-US" dirty="0" err="1"/>
              <a:t>molestie</a:t>
            </a:r>
            <a:r>
              <a:rPr lang="en-US" dirty="0"/>
              <a:t> a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per, eros sit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tempus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dolor ac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libero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lorem cursus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vestibulum </a:t>
            </a:r>
            <a:r>
              <a:rPr lang="en-US" dirty="0" err="1"/>
              <a:t>eu</a:t>
            </a:r>
            <a:r>
              <a:rPr lang="en-US" dirty="0"/>
              <a:t> ac integer, </a:t>
            </a:r>
            <a:r>
              <a:rPr lang="en-US" dirty="0" err="1"/>
              <a:t>tellus</a:t>
            </a:r>
            <a:r>
              <a:rPr lang="en-US" dirty="0"/>
              <a:t> pharetra </a:t>
            </a:r>
            <a:r>
              <a:rPr lang="en-US" dirty="0" err="1"/>
              <a:t>dictumst</a:t>
            </a:r>
            <a:r>
              <a:rPr lang="en-US" dirty="0"/>
              <a:t>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ad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BD50B6-BCAD-6C1D-94E4-391D6EFEDE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B922CD-AA98-19C2-F226-24D0CD58A7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8211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-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959DAE7-B533-7C26-06A9-299565EE08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1448687"/>
            <a:ext cx="10877993" cy="480060"/>
          </a:xfrm>
          <a:prstGeom prst="rect">
            <a:avLst/>
          </a:prstGeom>
        </p:spPr>
        <p:txBody>
          <a:bodyPr/>
          <a:lstStyle>
            <a:lvl1pPr>
              <a:defRPr sz="18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C9E8CA-88FF-A7D0-4471-3E5178A6D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5A5532C-1A44-601F-63DE-35FE9E5CCF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36754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4648200" cy="126566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Leo </a:t>
            </a:r>
            <a:r>
              <a:rPr lang="en-US" dirty="0" err="1"/>
              <a:t>luctus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facilisi</a:t>
            </a:r>
            <a:r>
              <a:rPr lang="en-US" dirty="0"/>
              <a:t>.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,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fermentum.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netus</a:t>
            </a:r>
            <a:r>
              <a:rPr lang="en-US" dirty="0"/>
              <a:t> magna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Eros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at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D5963C9-D5D1-84E3-AF7B-5BFA6D21D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2784" y="2698291"/>
            <a:ext cx="4648200" cy="177862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05CA7F-D6DB-04A0-EA4C-4787388D35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2784" y="1752600"/>
            <a:ext cx="4648200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148D1E8-D0B5-5F4B-AE07-155B7CAD85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789B724-DDDF-4B41-E38D-8AA4A3E54F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489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gravida </a:t>
            </a:r>
            <a:r>
              <a:rPr lang="en-US" dirty="0" err="1"/>
              <a:t>molestie</a:t>
            </a:r>
            <a:r>
              <a:rPr lang="en-US" dirty="0"/>
              <a:t> a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per, eros sit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tempus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dolor ac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libero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lorem cursus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C198DC-372C-F60D-2583-3EEDD5323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380D62-CB6C-B373-E0E2-D002F4BD4C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429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+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0AAB83-32F0-44B8-4EEF-5A03F77A74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632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4DF3F84-AB7D-CCBF-CE9C-8622CDB3301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B9E3B6-606B-4386-3178-88031FBF91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5217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3A954E-DE2D-00F0-C4ED-0008C326EC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95217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97F8596-9B60-0E1E-695B-F159BEA9E3D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95216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B6C83D-C556-0782-5061-97C7DD672F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1209" y="4671155"/>
            <a:ext cx="3346076" cy="152214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D25C29-AD3E-1278-B083-FCE0D45401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41209" y="388052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66AB8C86-9C9A-0BF1-5545-731713F1DF9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141208" y="1726692"/>
            <a:ext cx="3361476" cy="191719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A73F49-D1D2-3CD7-931A-C196B52C7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51B6335-94C2-4FFE-338B-28D29593A5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18547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section_Divid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9369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1F377A5-B459-0F7C-7F34-FEF9D76152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9369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FE36997-E074-D0DA-66D5-F4724D23BF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50352" y="2698291"/>
            <a:ext cx="3346076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3741EA-6845-0A00-EAE0-5F35986A0EC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0352" y="1752600"/>
            <a:ext cx="3346076" cy="55399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3632" y="2682874"/>
            <a:ext cx="3363468" cy="303517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B70457-B389-D08A-D7A4-A322C74C9D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35E41E-9E5E-2B45-2AC0-EB66F1702EC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09876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632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632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porta </a:t>
            </a:r>
            <a:r>
              <a:rPr lang="en-US" dirty="0" err="1"/>
              <a:t>duis</a:t>
            </a:r>
            <a:r>
              <a:rPr lang="en-US" dirty="0"/>
              <a:t> magna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gravida </a:t>
            </a:r>
            <a:r>
              <a:rPr lang="en-US" dirty="0" err="1"/>
              <a:t>molestie</a:t>
            </a:r>
            <a:r>
              <a:rPr lang="en-US" dirty="0"/>
              <a:t> a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per, eros sit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tempus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dolor ac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libero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etiam</a:t>
            </a:r>
            <a:r>
              <a:rPr lang="en-US" dirty="0"/>
              <a:t> lorem cursus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curae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.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533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533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2784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2784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1726692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2456891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CED83E-2EFF-B95A-4339-1971DE1A2C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163DC51-3FE7-871F-8D9B-C299CFC5F2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0214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BBECED4-4691-EAD7-0FFE-7393254BB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1757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eros mi </a:t>
            </a:r>
            <a:r>
              <a:rPr lang="en-US" dirty="0" err="1"/>
              <a:t>maecenas</a:t>
            </a:r>
            <a:r>
              <a:rPr lang="en-US" dirty="0"/>
              <a:t> ligula magna.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E7CDA2-C04C-57C2-B779-676BA576EF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1757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A9DA82-9FD9-26A5-10CB-6B8054B04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1757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1E07365-191F-2AEF-D8B3-0E6070334B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150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3B958-0014-5BD7-06FC-5AD3F29668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150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D3BEB48-F134-5C30-6B6D-9CE9C41CC7F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150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0338E16-D20C-B7FA-8AC3-9C439351E1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37159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6B141DB-BB5A-9CCF-6E8E-737B235FA2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37159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BA6217C-C15D-5705-1523-51C7EE9D274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237159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A66D88E-80F4-1365-4E17-69F78707BE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5608" y="3162245"/>
            <a:ext cx="2436876" cy="43088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magna.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DAFD4C9-E6EA-68B1-AE47-8BEF8A00F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55608" y="3892444"/>
            <a:ext cx="2400300" cy="229126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libero </a:t>
            </a:r>
            <a:r>
              <a:rPr lang="en-US" err="1"/>
              <a:t>duis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lorem cursus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curae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.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10FD9B17-7D3A-73D7-A51D-A3A5FF8DA3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5608" y="1491333"/>
            <a:ext cx="2404872" cy="137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9BFC9F-EE6C-AEB4-97F1-A5CE2C4BA2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F7669829-F3A9-621E-9905-791E46E27B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91480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_bl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Purple Blur&#10;">
            <a:extLst>
              <a:ext uri="{FF2B5EF4-FFF2-40B4-BE49-F238E27FC236}">
                <a16:creationId xmlns:a16="http://schemas.microsoft.com/office/drawing/2014/main" id="{20858E9A-CB5D-190B-E115-D040F11CF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560136"/>
            <a:ext cx="1488559" cy="2713074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1" name="Picture 20" descr="Purple blur&#10;">
            <a:extLst>
              <a:ext uri="{FF2B5EF4-FFF2-40B4-BE49-F238E27FC236}">
                <a16:creationId xmlns:a16="http://schemas.microsoft.com/office/drawing/2014/main" id="{FC072D8F-9413-C0EE-DD0E-94A9EA142E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9200" y="0"/>
            <a:ext cx="1260401" cy="12604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77BC-51B4-390A-0147-95CB7052C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15F930C-ED21-E214-FA54-5737DC2413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6119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var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700596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28666" y="1286134"/>
            <a:ext cx="3923414" cy="43703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64546" y="2179896"/>
            <a:ext cx="2179638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651" y="1775084"/>
            <a:ext cx="2835349" cy="3413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5F403F-1791-E454-1EF7-19537E5F0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1095670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D955803-2C5C-0B5F-11E5-5F0FBB37EA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1095670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44091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1287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31287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1586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1586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03488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3488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66561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B84B59E6-DB3C-524C-C721-DF0AEF48CE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40E92CB-4429-D81E-AE0E-74FA641AF1D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36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6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1F11A-7C19-9AF1-8D46-17DC6138F6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58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10FF0E1-8D9D-EEE3-60BA-CF73F351DF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58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65875D-645C-4E8A-84A9-85DA3A7C6D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970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06FED9F-44EA-A943-059C-C15E1B5FC8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970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661182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1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7" y="1"/>
            <a:ext cx="611293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63838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823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23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163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63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5401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5401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5515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5515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425502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CEB80F1-2238-7003-E60A-777E8870D8C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2292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081F6261-AB67-5FCE-B3A8-35604F14E2A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960C74D-5AC8-20B0-B8EC-5A82F42EEBC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061460" y="1"/>
            <a:ext cx="4069080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E694EF9-63E8-2DD1-855D-8226F0B9D7E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2582" y="523036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0AC54D94-5550-35E2-9CBB-6380D1A0559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25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174A8AE-15FF-5BDD-7685-4FAF6EF23C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673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D7025AF-5AD5-E053-39A9-A1C9947284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73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5C5A44C-A29D-3C27-3B25-9F14C1ECA7B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05982" y="5233641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BF15487-07BD-CB9A-E6A8-536C7BB5ED6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05982" y="5620940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038937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-2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C7F119B1-945E-DB84-8CCC-48ECFF66E18A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079066" y="1"/>
            <a:ext cx="6117336" cy="472744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8D26C75-51C3-5A6C-E9B2-8C5ED2E7DC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43701" y="5223588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CE14F46-9EA2-9FF5-00DF-32589A51A5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1" y="5610887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8856268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" y="1385887"/>
            <a:ext cx="3044952" cy="33432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9015" y="1"/>
            <a:ext cx="3044952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5642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5642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27EC50B-97F1-95B1-1645-215DA9E1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3267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DB968DD-CEBD-F381-301F-90981E0D72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33267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098032" y="1000125"/>
            <a:ext cx="3044952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55DC887-581D-F1A6-AE8A-07BF09DACBF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147048" y="1"/>
            <a:ext cx="3044952" cy="472916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7843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7843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05468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05468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33749459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E055866F-C082-4D99-5B4E-3C63986AAC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14713" y="1"/>
            <a:ext cx="5372099" cy="397192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803132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EB4AE85-0F02-5C55-08C2-B0140E9D25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25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3CE0690-30B8-D5A7-67CF-262217A974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25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21751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21751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1000125"/>
            <a:ext cx="3388868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07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85DA047-547A-0842-A6E4-A652CD45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700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497A74-C5CD-1385-9639-CA14C03FB10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7700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0675C4A-D9A4-1E02-3EA2-91543FBB5E7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0"/>
            <a:ext cx="7810500" cy="49445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098EDDB7-B424-017D-C031-094E73D4E0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415EB96-602E-D431-3713-AB005A9D7B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0892A38E-DB30-CF79-A5B5-0EC6FE038B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3815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307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55255" y="1819274"/>
            <a:ext cx="2616200" cy="260508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404812"/>
            <a:ext cx="3779476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D0AD93E-4D95-4081-4F15-A8D7B51D25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58363" y="1484311"/>
            <a:ext cx="2329046" cy="26146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47234" y="893762"/>
            <a:ext cx="2835349" cy="37211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23233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23233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8473845-42B3-319E-BAD5-25FF29ECDA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1697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087191E-6D99-69DB-18A5-0987DC62F1F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1697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53600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53600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5192666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67FF5A-BD3B-6823-510D-65EA34CAC6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614488"/>
            <a:ext cx="3357562" cy="280987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3A2EB-3C19-9E31-FDC7-914877B946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71874" y="404812"/>
            <a:ext cx="5100639" cy="421005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F0AF10A-A1DF-4170-D2CD-EFCFAB551D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58250" y="893762"/>
            <a:ext cx="3333750" cy="35353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9BD9240-DA34-2B4B-C18E-E31B5F3E26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999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FFB4A-48ED-CC59-1A90-5722D0CADC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7999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97C5544-D8B2-9AE0-9BC4-AF92DF9C6A0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6731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4662A9F-9217-54A8-5072-93ABC9E8D4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6731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1B4FCF2-6DDE-B735-E462-BA93B8E8456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5462" y="5105054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0E7436-EC01-5BA6-ACB7-295FD0FD55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5462" y="5492353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9017838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hotos_Case_Study_Intr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248E6C1-AD8D-259C-5340-56A8EC4453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381500" y="419100"/>
            <a:ext cx="7810500" cy="437303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9A18AC36-E872-0FBB-CCDF-E7487C47BED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915459"/>
            <a:ext cx="4114800" cy="334670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D4E9A13-72EC-7795-6682-8E9D5F88478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19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AE7E2F1-8A7E-2749-7C23-12A180BF0CB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19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629CAEA-5BAE-C2BF-C737-48B738207AB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81034" y="5233642"/>
            <a:ext cx="2436876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58F9ED73-42C5-93DF-AE80-AD7C5AF1BD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881034" y="5620941"/>
            <a:ext cx="2400300" cy="184666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7233316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24334-259C-B34A-CF0B-6328CEB75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EEC63-D2A6-A479-4356-E9E6BC190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B2245E5-D2EB-1450-FEC1-6BEFE1F76A4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608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9D76B9-5EAA-9E63-4059-21E83CD46A10}"/>
              </a:ext>
            </a:extLst>
          </p:cNvPr>
          <p:cNvSpPr/>
          <p:nvPr userDrawn="1"/>
        </p:nvSpPr>
        <p:spPr bwMode="auto">
          <a:xfrm>
            <a:off x="975360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DA15A-8BB1-B824-E7EF-8D9046513FB2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9A158B8-5C5D-7C73-B048-F98B170D7851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773BA-924B-BAC6-7D25-ED7A9338B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83976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2B58C1F-15E1-403E-C8DD-FB7FA7791D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83976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36718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43804D-BD14-08D3-2752-570DB2A13AC1}"/>
              </a:ext>
            </a:extLst>
          </p:cNvPr>
          <p:cNvSpPr/>
          <p:nvPr userDrawn="1"/>
        </p:nvSpPr>
        <p:spPr bwMode="auto">
          <a:xfrm>
            <a:off x="7848600" y="0"/>
            <a:ext cx="43482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E35CB-4416-67B4-9A4B-0412315D4979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7818-3DD1-DA7E-0C01-8FA58F5B3AE9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EB2ABD-8C1A-2F57-ED12-4A5372D24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6522818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CBC5A8B-D655-9D1E-4EAD-6B7EF3CBD7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6522818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5134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802983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D9537-B25D-7D96-9993-3FD73B2FDB2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1EAE48-670D-1E75-E1E5-6E8259532FE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4B8001-80C4-3060-BD6B-437632BF7C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73C2D60-2316-60E7-7382-870EBF68A7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299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F38BD-32C9-894D-AB81-415CC476EC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8AE99-B517-8AEB-D5E4-B09D52CA25AF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20F32B-02B9-F0A1-D25E-DE2CDA7F43C0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1749E3-2785-6125-72F4-4CB2CF388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4651156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F8F30B81-156F-78DF-062D-E4DD7907F0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4651156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54982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81500" y="0"/>
            <a:ext cx="78104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0"/>
            <a:ext cx="78105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21A-DBD8-0204-830A-B611F2C50DB3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F4A5E9B-ED60-9026-0304-CC0E0C50B0BB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259D8-8F7C-0047-F26B-69BFCE9B0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2"/>
            <a:ext cx="3477993" cy="343958"/>
          </a:xfrm>
          <a:prstGeom prst="rect">
            <a:avLst/>
          </a:prstGeom>
        </p:spPr>
        <p:txBody>
          <a:bodyPr/>
          <a:lstStyle>
            <a:lvl1pPr>
              <a:defRPr lang="en-US" sz="2200" b="1" i="0" kern="1200" spc="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524263F-D90D-573F-672D-5622B33EAD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099"/>
            <a:ext cx="3477993" cy="225707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6604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52DE14-65C1-7956-7013-27CD9E260F56}"/>
              </a:ext>
            </a:extLst>
          </p:cNvPr>
          <p:cNvSpPr/>
          <p:nvPr userDrawn="1"/>
        </p:nvSpPr>
        <p:spPr bwMode="auto">
          <a:xfrm>
            <a:off x="0" y="0"/>
            <a:ext cx="243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C365B7-BDA2-A1BA-99C3-FAE4F63E6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65652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lnSpc>
                <a:spcPts val="2000"/>
              </a:lnSpc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CE349-346A-D8D6-57AD-5723D88B67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51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9E35029-5964-C030-FE93-F157EF1D672E}"/>
              </a:ext>
            </a:extLst>
          </p:cNvPr>
          <p:cNvSpPr txBox="1">
            <a:spLocks/>
          </p:cNvSpPr>
          <p:nvPr userDrawn="1"/>
        </p:nvSpPr>
        <p:spPr>
          <a:xfrm>
            <a:off x="4365652" y="1688770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200" b="1" i="0" spc="0" dirty="0">
                <a:gradFill>
                  <a:gsLst>
                    <a:gs pos="0">
                      <a:schemeClr val="accent3"/>
                    </a:gs>
                    <a:gs pos="45000">
                      <a:schemeClr val="accent3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605700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0" y="0"/>
            <a:ext cx="3429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29000" y="0"/>
            <a:ext cx="8763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0D0B5-8985-C0CF-E031-72C099F13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44169FF-3519-85C9-0F2D-26C1E7EAB3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2618014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E92AB95-E16F-C12B-B3CB-DCDED8BB72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2618014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4311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5451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0723C-92A3-529E-5B7C-80EDBC2622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6416865"/>
            <a:ext cx="488145" cy="1794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0312C7-4EE9-90CF-47E1-087BF074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B4920DC-0C83-DBD1-A7BA-450D741C9E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9407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_Mockup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A393A3-BED5-A4B8-2CC9-68028E8F7DD4}"/>
              </a:ext>
            </a:extLst>
          </p:cNvPr>
          <p:cNvSpPr/>
          <p:nvPr userDrawn="1"/>
        </p:nvSpPr>
        <p:spPr bwMode="auto">
          <a:xfrm>
            <a:off x="0" y="0"/>
            <a:ext cx="715645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52ADC-08BB-44B3-7F3D-505CD63B75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73605A9-1E62-45FD-73A7-1EA66A44C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632" y="722843"/>
            <a:ext cx="3474720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>
                <a:effectLst/>
              </a:rPr>
              <a:t>Title Goes Here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0308101-6824-4317-B732-39B094E4FA5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3632" y="419100"/>
            <a:ext cx="3474720" cy="22570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lang="en-US" sz="1000" b="0" i="0" kern="1200" cap="all" spc="30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88596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FD4578C-8BBA-DD7F-1D7F-67C3334C40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364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4745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01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48705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783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442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035424"/>
            <a:ext cx="46482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7200" b="0">
                <a:gradFill>
                  <a:gsLst>
                    <a:gs pos="0">
                      <a:srgbClr val="00F6FF"/>
                    </a:gs>
                    <a:gs pos="56000">
                      <a:srgbClr val="00FFF0"/>
                    </a:gs>
                    <a:gs pos="100000">
                      <a:srgbClr val="B896FF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en-US" dirty="0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700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700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700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700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647700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44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151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713" y="717613"/>
            <a:ext cx="1096568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14E4D-CAE3-3A0B-B3F8-465622E4D6E8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699" y="6416865"/>
            <a:ext cx="488145" cy="179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6C1CD2-C3C3-99BC-1F71-5CF176EF164E}"/>
              </a:ext>
            </a:extLst>
          </p:cNvPr>
          <p:cNvSpPr txBox="1"/>
          <p:nvPr userDrawn="1"/>
        </p:nvSpPr>
        <p:spPr>
          <a:xfrm>
            <a:off x="-579120" y="45923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453A-FF25-1748-B091-91F29105A245}"/>
              </a:ext>
            </a:extLst>
          </p:cNvPr>
          <p:cNvSpPr txBox="1"/>
          <p:nvPr userDrawn="1"/>
        </p:nvSpPr>
        <p:spPr>
          <a:xfrm>
            <a:off x="9517294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E5B4CB-0A41-3758-17D3-77CB4387DBAE}"/>
              </a:ext>
            </a:extLst>
          </p:cNvPr>
          <p:cNvSpPr txBox="1">
            <a:spLocks/>
          </p:cNvSpPr>
          <p:nvPr userDrawn="1"/>
        </p:nvSpPr>
        <p:spPr>
          <a:xfrm>
            <a:off x="1134186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4283C5-7CEB-C3A6-3D15-0C58149D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410" y="1581502"/>
            <a:ext cx="10948386" cy="46287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800" r:id="rId2"/>
    <p:sldLayoutId id="2147483840" r:id="rId3"/>
    <p:sldLayoutId id="2147483733" r:id="rId4"/>
    <p:sldLayoutId id="2147483810" r:id="rId5"/>
    <p:sldLayoutId id="2147483796" r:id="rId6"/>
    <p:sldLayoutId id="2147483797" r:id="rId7"/>
    <p:sldLayoutId id="2147483818" r:id="rId8"/>
    <p:sldLayoutId id="2147483819" r:id="rId9"/>
    <p:sldLayoutId id="2147483890" r:id="rId10"/>
    <p:sldLayoutId id="2147483883" r:id="rId11"/>
    <p:sldLayoutId id="2147483884" r:id="rId12"/>
    <p:sldLayoutId id="2147483798" r:id="rId13"/>
    <p:sldLayoutId id="2147483803" r:id="rId14"/>
    <p:sldLayoutId id="2147483806" r:id="rId15"/>
    <p:sldLayoutId id="2147483812" r:id="rId16"/>
    <p:sldLayoutId id="2147483839" r:id="rId17"/>
    <p:sldLayoutId id="2147483838" r:id="rId18"/>
    <p:sldLayoutId id="2147483805" r:id="rId19"/>
    <p:sldLayoutId id="2147483813" r:id="rId20"/>
    <p:sldLayoutId id="2147483877" r:id="rId21"/>
    <p:sldLayoutId id="2147483878" r:id="rId22"/>
    <p:sldLayoutId id="2147483879" r:id="rId23"/>
    <p:sldLayoutId id="2147483880" r:id="rId24"/>
    <p:sldLayoutId id="2147483881" r:id="rId25"/>
    <p:sldLayoutId id="2147483882" r:id="rId26"/>
    <p:sldLayoutId id="2147483850" r:id="rId27"/>
    <p:sldLayoutId id="2147483861" r:id="rId28"/>
    <p:sldLayoutId id="2147483834" r:id="rId29"/>
    <p:sldLayoutId id="2147483849" r:id="rId30"/>
    <p:sldLayoutId id="2147483862" r:id="rId31"/>
    <p:sldLayoutId id="2147483833" r:id="rId32"/>
    <p:sldLayoutId id="2147483876" r:id="rId33"/>
    <p:sldLayoutId id="2147483826" r:id="rId34"/>
    <p:sldLayoutId id="2147483814" r:id="rId35"/>
    <p:sldLayoutId id="2147483824" r:id="rId36"/>
    <p:sldLayoutId id="2147483815" r:id="rId37"/>
    <p:sldLayoutId id="2147483825" r:id="rId38"/>
    <p:sldLayoutId id="2147483823" r:id="rId39"/>
    <p:sldLayoutId id="2147483829" r:id="rId40"/>
    <p:sldLayoutId id="2147483830" r:id="rId41"/>
    <p:sldLayoutId id="2147483863" r:id="rId42"/>
    <p:sldLayoutId id="2147483868" r:id="rId43"/>
    <p:sldLayoutId id="2147483872" r:id="rId44"/>
    <p:sldLayoutId id="2147483866" r:id="rId45"/>
    <p:sldLayoutId id="2147483869" r:id="rId46"/>
    <p:sldLayoutId id="2147483873" r:id="rId47"/>
    <p:sldLayoutId id="2147483867" r:id="rId48"/>
    <p:sldLayoutId id="2147483870" r:id="rId49"/>
    <p:sldLayoutId id="2147483874" r:id="rId50"/>
    <p:sldLayoutId id="2147483864" r:id="rId51"/>
    <p:sldLayoutId id="2147483875" r:id="rId52"/>
    <p:sldLayoutId id="2147483871" r:id="rId53"/>
    <p:sldLayoutId id="2147483885" r:id="rId54"/>
    <p:sldLayoutId id="2147483841" r:id="rId55"/>
    <p:sldLayoutId id="2147483842" r:id="rId56"/>
    <p:sldLayoutId id="2147483886" r:id="rId57"/>
    <p:sldLayoutId id="2147483843" r:id="rId58"/>
    <p:sldLayoutId id="2147483889" r:id="rId59"/>
    <p:sldLayoutId id="2147483848" r:id="rId60"/>
    <p:sldLayoutId id="2147483888" r:id="rId61"/>
    <p:sldLayoutId id="2147483887" r:id="rId62"/>
    <p:sldLayoutId id="2147483851" r:id="rId63"/>
    <p:sldLayoutId id="2147483856" r:id="rId64"/>
    <p:sldLayoutId id="2147483893" r:id="rId65"/>
    <p:sldLayoutId id="2147483891" r:id="rId66"/>
    <p:sldLayoutId id="2147483892" r:id="rId67"/>
    <p:sldLayoutId id="2147483860" r:id="rId68"/>
    <p:sldLayoutId id="2147483858" r:id="rId69"/>
    <p:sldLayoutId id="2147483859" r:id="rId70"/>
    <p:sldLayoutId id="2147483778" r:id="rId7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bg1"/>
          </a:solidFill>
          <a:effectLst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Arial" panose="020B0604020202020204" pitchFamily="34" charset="0"/>
        <a:buChar char="•"/>
        <a:defRPr lang="en-US" sz="14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1"/>
        </a:buClr>
        <a:buFont typeface="Courier New" panose="02070309020205020404" pitchFamily="49" charset="0"/>
        <a:buChar char="o"/>
        <a:defRPr lang="en-US" sz="1200" b="0" i="0" kern="1200" dirty="0">
          <a:solidFill>
            <a:schemeClr val="bg1"/>
          </a:solidFill>
          <a:latin typeface="Calibri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lang="en-US" sz="1200" b="0" i="0" kern="1200" dirty="0">
          <a:solidFill>
            <a:schemeClr val="bg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1" userDrawn="1">
          <p15:clr>
            <a:srgbClr val="F26B43"/>
          </p15:clr>
        </p15:guide>
        <p15:guide id="3" pos="7301" userDrawn="1">
          <p15:clr>
            <a:srgbClr val="F26B43"/>
          </p15:clr>
        </p15:guide>
        <p15:guide id="12" orient="horz" pos="3912" userDrawn="1">
          <p15:clr>
            <a:srgbClr val="F26B43"/>
          </p15:clr>
        </p15:guide>
        <p15:guide id="13" pos="826" userDrawn="1">
          <p15:clr>
            <a:srgbClr val="F26B43"/>
          </p15:clr>
        </p15:guide>
        <p15:guide id="14" pos="981" userDrawn="1">
          <p15:clr>
            <a:srgbClr val="F26B43"/>
          </p15:clr>
        </p15:guide>
        <p15:guide id="15" pos="1392" userDrawn="1">
          <p15:clr>
            <a:srgbClr val="F26B43"/>
          </p15:clr>
        </p15:guide>
        <p15:guide id="16" pos="1536" userDrawn="1">
          <p15:clr>
            <a:srgbClr val="F26B43"/>
          </p15:clr>
        </p15:guide>
        <p15:guide id="17" pos="2000" userDrawn="1">
          <p15:clr>
            <a:srgbClr val="F26B43"/>
          </p15:clr>
        </p15:guide>
        <p15:guide id="18" pos="2152" userDrawn="1">
          <p15:clr>
            <a:srgbClr val="F26B43"/>
          </p15:clr>
        </p15:guide>
        <p15:guide id="19" pos="2590" userDrawn="1">
          <p15:clr>
            <a:srgbClr val="F26B43"/>
          </p15:clr>
        </p15:guide>
        <p15:guide id="20" pos="2743" userDrawn="1">
          <p15:clr>
            <a:srgbClr val="F26B43"/>
          </p15:clr>
        </p15:guide>
        <p15:guide id="21" pos="3182" userDrawn="1">
          <p15:clr>
            <a:srgbClr val="F26B43"/>
          </p15:clr>
        </p15:guide>
        <p15:guide id="22" pos="3329" userDrawn="1">
          <p15:clr>
            <a:srgbClr val="F26B43"/>
          </p15:clr>
        </p15:guide>
        <p15:guide id="23" pos="3764" userDrawn="1">
          <p15:clr>
            <a:srgbClr val="F26B43"/>
          </p15:clr>
        </p15:guide>
        <p15:guide id="24" pos="3916" userDrawn="1">
          <p15:clr>
            <a:srgbClr val="F26B43"/>
          </p15:clr>
        </p15:guide>
        <p15:guide id="25" pos="4353" userDrawn="1">
          <p15:clr>
            <a:srgbClr val="F26B43"/>
          </p15:clr>
        </p15:guide>
        <p15:guide id="26" pos="4508" userDrawn="1">
          <p15:clr>
            <a:srgbClr val="F26B43"/>
          </p15:clr>
        </p15:guide>
        <p15:guide id="27" pos="4950" userDrawn="1">
          <p15:clr>
            <a:srgbClr val="F26B43"/>
          </p15:clr>
        </p15:guide>
        <p15:guide id="28" pos="5100" userDrawn="1">
          <p15:clr>
            <a:srgbClr val="F26B43"/>
          </p15:clr>
        </p15:guide>
        <p15:guide id="29" pos="5536" userDrawn="1">
          <p15:clr>
            <a:srgbClr val="F26B43"/>
          </p15:clr>
        </p15:guide>
        <p15:guide id="30" pos="5689" userDrawn="1">
          <p15:clr>
            <a:srgbClr val="F26B43"/>
          </p15:clr>
        </p15:guide>
        <p15:guide id="31" pos="6123" userDrawn="1">
          <p15:clr>
            <a:srgbClr val="F26B43"/>
          </p15:clr>
        </p15:guide>
        <p15:guide id="32" pos="6278" userDrawn="1">
          <p15:clr>
            <a:srgbClr val="F26B43"/>
          </p15:clr>
        </p15:guide>
        <p15:guide id="33" pos="6712" userDrawn="1">
          <p15:clr>
            <a:srgbClr val="F26B43"/>
          </p15:clr>
        </p15:guide>
        <p15:guide id="34" pos="6865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orient="horz" pos="672" userDrawn="1">
          <p15:clr>
            <a:srgbClr val="F26B43"/>
          </p15:clr>
        </p15:guide>
        <p15:guide id="4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Neither of them will stand because of their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MAY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Juniors or Seniors, Who Will Stand?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Junior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The Senior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The Balance Sheet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The Human Skills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492990"/>
          </a:xfrm>
        </p:spPr>
        <p:txBody>
          <a:bodyPr/>
          <a:lstStyle/>
          <a:p>
            <a:r>
              <a:rPr sz="5400" dirty="0"/>
              <a:t>Both stared at the same AI revolution and felt the same cold wind.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300" y="1968918"/>
            <a:ext cx="10869110" cy="1015663"/>
          </a:xfrm>
        </p:spPr>
        <p:txBody>
          <a:bodyPr/>
          <a:lstStyle/>
          <a:p>
            <a:r>
              <a:rPr dirty="0"/>
              <a:t>The Engineer Shapes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43460" y="4784228"/>
            <a:ext cx="4757677" cy="246221"/>
          </a:xfrm>
        </p:spPr>
        <p:txBody>
          <a:bodyPr/>
          <a:lstStyle/>
          <a:p>
            <a:r>
              <a:rPr dirty="0"/>
              <a:t>Warming up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9259E1-6F53-B325-79A2-71CF04E0A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988" y="1391055"/>
            <a:ext cx="10074024" cy="36089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E3C1-1D3F-E5DF-FE0B-23ADD4DA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93A9C8C-C19E-55E1-3B1A-DF5114865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7512" y="1391055"/>
            <a:ext cx="9956975" cy="360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2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6FD36-6F41-EBF1-8DD2-E3349F2F0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9D8A-4000-409D-005C-E2ECA3E9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Junior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3824-FB4B-EB60-3591-B49BBD5C4D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Everything to prove — and now the bar has been raised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61951-1E01-F975-E308-4E6366DA1F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B7CEB6-202A-B201-C2D3-083FEE7F21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741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FIRST WEEK ON THE JOB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33632" y="2916936"/>
            <a:ext cx="4648200" cy="1939249"/>
          </a:xfrm>
        </p:spPr>
        <p:txBody>
          <a:bodyPr/>
          <a:lstStyle/>
          <a:p>
            <a:r>
              <a:rPr sz="1600" dirty="0"/>
              <a:t>He was the cockiest, </a:t>
            </a:r>
            <a:r>
              <a:rPr sz="1600" b="1" dirty="0">
                <a:solidFill>
                  <a:schemeClr val="accent2"/>
                </a:solidFill>
              </a:rPr>
              <a:t>proudest student</a:t>
            </a:r>
            <a:r>
              <a:rPr sz="1600" dirty="0"/>
              <a:t> in class — straight A's, full of confidence. </a:t>
            </a:r>
          </a:p>
          <a:p>
            <a:r>
              <a:rPr sz="1600" b="1" dirty="0">
                <a:solidFill>
                  <a:schemeClr val="accent2"/>
                </a:solidFill>
              </a:rPr>
              <a:t>Day one</a:t>
            </a:r>
            <a:r>
              <a:rPr sz="1600" dirty="0"/>
              <a:t> on a real project: zero knowledge of Informix, zero knowledge of UNIX, zero knowledge of payroll. </a:t>
            </a:r>
            <a:r>
              <a:rPr sz="1600" b="1" dirty="0">
                <a:solidFill>
                  <a:schemeClr val="accent2"/>
                </a:solidFill>
              </a:rPr>
              <a:t>Ego shattered on the floor</a:t>
            </a:r>
            <a:r>
              <a:rPr sz="1600" dirty="0"/>
              <a:t>. </a:t>
            </a:r>
          </a:p>
          <a:p>
            <a:r>
              <a:rPr sz="1600" dirty="0"/>
              <a:t>But also thrilled by every new discovery, learning an insane amount, getting paid.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The Junior Developer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dirty="0"/>
              <a:t>8th semester student, first assignment: Informix stored procedures for payroll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20203AA-A898-13DF-B9FB-96C7AEEA9D51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t="18353" b="18353"/>
          <a:stretch/>
        </p:blipFill>
        <p:spPr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4A2D-66AB-7A91-46D4-74C95974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2EE02A-D2BE-2422-D99E-1F1F480F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A0CEE6-F9A9-605E-7C74-0F57C09C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215991"/>
          </a:xfrm>
        </p:spPr>
        <p:txBody>
          <a:bodyPr/>
          <a:lstStyle/>
          <a:p>
            <a:r>
              <a:rPr sz="4800" dirty="0"/>
              <a:t>The University gives you the confidence the real world will </a:t>
            </a:r>
            <a:r>
              <a:rPr sz="4800" dirty="0">
                <a:solidFill>
                  <a:schemeClr val="accent2"/>
                </a:solidFill>
              </a:rPr>
              <a:t>destroy</a:t>
            </a:r>
            <a:r>
              <a:rPr sz="4800" dirty="0"/>
              <a:t> in the first week.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C43A5-8783-9234-B84E-CD5549B5A8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junior reality</a:t>
            </a:r>
          </a:p>
        </p:txBody>
      </p:sp>
    </p:spTree>
    <p:extLst>
      <p:ext uri="{BB962C8B-B14F-4D97-AF65-F5344CB8AC3E}">
        <p14:creationId xmlns:p14="http://schemas.microsoft.com/office/powerpoint/2010/main" val="1100487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Diverse challenges build versatile engineers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1800" dirty="0"/>
              <a:t>- Project 1: Informix + UNIX → first database depth</a:t>
            </a:r>
          </a:p>
          <a:p>
            <a:r>
              <a:rPr sz="1800" dirty="0"/>
              <a:t>- Project 2: PowerBuilder + SQL Server → breadth begins</a:t>
            </a:r>
          </a:p>
          <a:p>
            <a:r>
              <a:rPr sz="1800" dirty="0"/>
              <a:t>- Each new project </a:t>
            </a:r>
            <a:r>
              <a:rPr sz="1800" b="1" dirty="0">
                <a:solidFill>
                  <a:schemeClr val="accent2"/>
                </a:solidFill>
              </a:rPr>
              <a:t>adds a dimension</a:t>
            </a:r>
            <a:r>
              <a:rPr sz="1800" dirty="0"/>
              <a:t> to the shape</a:t>
            </a:r>
          </a:p>
          <a:p>
            <a:r>
              <a:rPr sz="1800" dirty="0"/>
              <a:t>- No-shape </a:t>
            </a:r>
            <a:r>
              <a:rPr sz="1800" dirty="0">
                <a:solidFill>
                  <a:schemeClr val="accent2"/>
                </a:solidFill>
              </a:rPr>
              <a:t>→</a:t>
            </a:r>
            <a:r>
              <a:rPr sz="1800" dirty="0"/>
              <a:t> Pi-shape without even noticing it</a:t>
            </a:r>
          </a:p>
          <a:p>
            <a:r>
              <a:rPr sz="1800" b="1" dirty="0"/>
              <a:t>- </a:t>
            </a:r>
            <a:r>
              <a:rPr sz="1800" b="1" dirty="0">
                <a:solidFill>
                  <a:schemeClr val="accent2"/>
                </a:solidFill>
              </a:rPr>
              <a:t>Feeling a little lost, but less, every time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Junior's Shape Evolution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23F3C-4F49-E4F4-9247-0F175369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966" y="934801"/>
            <a:ext cx="2467319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5FAE15-BCDF-5F92-132D-DF5518FF0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6966" y="3834851"/>
            <a:ext cx="3553321" cy="2578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400" dirty="0"/>
              <a:t>- Hired for simple, repetitive, boring tasks - </a:t>
            </a:r>
            <a:r>
              <a:rPr lang="en-US" sz="2400" b="1" dirty="0">
                <a:solidFill>
                  <a:schemeClr val="accent2"/>
                </a:solidFill>
              </a:rPr>
              <a:t>The task itself matters less than mentorship</a:t>
            </a:r>
            <a:endParaRPr sz="2400" b="1" dirty="0">
              <a:solidFill>
                <a:schemeClr val="accent2"/>
              </a:solidFill>
            </a:endParaRPr>
          </a:p>
          <a:p>
            <a:r>
              <a:rPr sz="2400" dirty="0"/>
              <a:t>- Unit tests, on-call support, documentation, CRUDs</a:t>
            </a:r>
          </a:p>
          <a:p>
            <a:r>
              <a:rPr sz="2400" dirty="0"/>
              <a:t>- Safe tasks that won't break the system while </a:t>
            </a:r>
            <a:r>
              <a:rPr sz="2400" b="1" dirty="0">
                <a:solidFill>
                  <a:schemeClr val="accent2"/>
                </a:solidFill>
              </a:rPr>
              <a:t>trust builds</a:t>
            </a:r>
          </a:p>
          <a:p>
            <a:r>
              <a:rPr sz="2400" b="1" dirty="0">
                <a:solidFill>
                  <a:schemeClr val="accent2"/>
                </a:solidFill>
              </a:rPr>
              <a:t>- Two rules</a:t>
            </a:r>
            <a:r>
              <a:rPr sz="2400" dirty="0"/>
              <a:t>: </a:t>
            </a:r>
          </a:p>
          <a:p>
            <a:pPr marL="468630" lvl="1" indent="-285750">
              <a:buFontTx/>
              <a:buChar char="-"/>
            </a:pPr>
            <a:r>
              <a:rPr sz="2400" dirty="0"/>
              <a:t>Rule </a:t>
            </a:r>
            <a:r>
              <a:rPr sz="2400" dirty="0">
                <a:solidFill>
                  <a:schemeClr val="accent2"/>
                </a:solidFill>
              </a:rPr>
              <a:t>#1</a:t>
            </a:r>
            <a:r>
              <a:rPr sz="2400" dirty="0"/>
              <a:t>: Must be good at something </a:t>
            </a:r>
          </a:p>
          <a:p>
            <a:pPr marL="468630" lvl="1" indent="-285750">
              <a:buFontTx/>
              <a:buChar char="-"/>
            </a:pPr>
            <a:r>
              <a:rPr lang="en-US" sz="2400" dirty="0"/>
              <a:t>Rule </a:t>
            </a:r>
            <a:r>
              <a:rPr lang="en-US" sz="2400" dirty="0">
                <a:solidFill>
                  <a:schemeClr val="accent2"/>
                </a:solidFill>
              </a:rPr>
              <a:t>#2</a:t>
            </a:r>
            <a:r>
              <a:rPr lang="en-US" sz="2400" dirty="0"/>
              <a:t>: Must be </a:t>
            </a:r>
            <a:r>
              <a:rPr sz="2400" dirty="0"/>
              <a:t>cheap</a:t>
            </a:r>
          </a:p>
          <a:p>
            <a:r>
              <a:rPr sz="2400" dirty="0"/>
              <a:t>- AI disrupts both of those assumptions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Traditional Junior Role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215991"/>
          </a:xfrm>
        </p:spPr>
        <p:txBody>
          <a:bodyPr/>
          <a:lstStyle/>
          <a:p>
            <a:r>
              <a:rPr sz="4800" dirty="0"/>
              <a:t>Even if AI does the repetitive stuff, someone has to </a:t>
            </a:r>
            <a:r>
              <a:rPr sz="4800" dirty="0">
                <a:solidFill>
                  <a:schemeClr val="accent2"/>
                </a:solidFill>
              </a:rPr>
              <a:t>point</a:t>
            </a:r>
            <a:r>
              <a:rPr sz="4800" dirty="0"/>
              <a:t> it in the right direction.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junior's new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400" dirty="0"/>
              <a:t>- </a:t>
            </a:r>
            <a:r>
              <a:rPr sz="2400" b="1" dirty="0">
                <a:solidFill>
                  <a:schemeClr val="accent2"/>
                </a:solidFill>
              </a:rPr>
              <a:t>AI is not equally adopted</a:t>
            </a:r>
            <a:r>
              <a:rPr sz="2400" dirty="0"/>
              <a:t> across all companies or projects</a:t>
            </a:r>
          </a:p>
          <a:p>
            <a:r>
              <a:rPr sz="2400" dirty="0"/>
              <a:t>- </a:t>
            </a:r>
            <a:r>
              <a:rPr sz="2400" b="1" dirty="0">
                <a:solidFill>
                  <a:schemeClr val="accent2"/>
                </a:solidFill>
              </a:rPr>
              <a:t>Spec debt</a:t>
            </a:r>
            <a:r>
              <a:rPr sz="2400" dirty="0"/>
              <a:t> is real: dozens of missing specs in every project</a:t>
            </a:r>
          </a:p>
          <a:p>
            <a:r>
              <a:rPr sz="2400" dirty="0"/>
              <a:t>- CRUD specs don't write themselves — still </a:t>
            </a:r>
            <a:r>
              <a:rPr sz="2400" b="1" dirty="0">
                <a:solidFill>
                  <a:schemeClr val="accent2"/>
                </a:solidFill>
              </a:rPr>
              <a:t>a junior's job</a:t>
            </a:r>
          </a:p>
          <a:p>
            <a:r>
              <a:rPr sz="2400" dirty="0"/>
              <a:t>- Companies expect </a:t>
            </a:r>
            <a:r>
              <a:rPr sz="2400" b="1" dirty="0">
                <a:solidFill>
                  <a:schemeClr val="accent2"/>
                </a:solidFill>
              </a:rPr>
              <a:t>Pi-shaped</a:t>
            </a:r>
            <a:r>
              <a:rPr sz="2400" dirty="0"/>
              <a:t> skills straight out of school</a:t>
            </a:r>
          </a:p>
          <a:p>
            <a:r>
              <a:rPr sz="2400" dirty="0"/>
              <a:t>- Rule</a:t>
            </a:r>
            <a:r>
              <a:rPr sz="2400" b="1" dirty="0"/>
              <a:t> </a:t>
            </a:r>
            <a:r>
              <a:rPr sz="2400" b="1" dirty="0">
                <a:solidFill>
                  <a:schemeClr val="accent2"/>
                </a:solidFill>
              </a:rPr>
              <a:t>#3 </a:t>
            </a:r>
            <a:r>
              <a:rPr sz="2400" dirty="0"/>
              <a:t>for hiring: </a:t>
            </a:r>
            <a:r>
              <a:rPr sz="2400" b="1" dirty="0">
                <a:solidFill>
                  <a:schemeClr val="accent2"/>
                </a:solidFill>
              </a:rPr>
              <a:t>must be good using AI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 a Junior Get a Job Today?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215991"/>
          </a:xfrm>
        </p:spPr>
        <p:txBody>
          <a:bodyPr/>
          <a:lstStyle/>
          <a:p>
            <a:r>
              <a:rPr sz="4800" dirty="0"/>
              <a:t>The bar has been </a:t>
            </a:r>
            <a:r>
              <a:rPr sz="4800" dirty="0">
                <a:solidFill>
                  <a:schemeClr val="accent2"/>
                </a:solidFill>
              </a:rPr>
              <a:t>raised</a:t>
            </a:r>
            <a:r>
              <a:rPr sz="4800" dirty="0"/>
              <a:t>. The single-language quiet junior </a:t>
            </a:r>
            <a:r>
              <a:rPr sz="4800" dirty="0">
                <a:solidFill>
                  <a:schemeClr val="accent2"/>
                </a:solidFill>
              </a:rPr>
              <a:t>is not enough</a:t>
            </a:r>
            <a:r>
              <a:rPr sz="4800" dirty="0"/>
              <a:t> anymore.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New expectations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492990"/>
          </a:xfrm>
        </p:spPr>
        <p:txBody>
          <a:bodyPr/>
          <a:lstStyle/>
          <a:p>
            <a:r>
              <a:rPr sz="5400" dirty="0"/>
              <a:t>Don't learn how to code — learn how to </a:t>
            </a:r>
            <a:r>
              <a:rPr sz="5400" dirty="0">
                <a:solidFill>
                  <a:schemeClr val="accent2"/>
                </a:solidFill>
              </a:rPr>
              <a:t>tell</a:t>
            </a:r>
            <a:r>
              <a:rPr sz="5400" dirty="0"/>
              <a:t> the machine </a:t>
            </a:r>
            <a:r>
              <a:rPr sz="5400" dirty="0">
                <a:solidFill>
                  <a:schemeClr val="accent2"/>
                </a:solidFill>
              </a:rPr>
              <a:t>what to code</a:t>
            </a:r>
            <a:r>
              <a:rPr sz="540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junior's shift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400" dirty="0"/>
              <a:t>- Every day without learning something new is a wasted day</a:t>
            </a:r>
          </a:p>
          <a:p>
            <a:r>
              <a:rPr sz="2400" dirty="0"/>
              <a:t>- </a:t>
            </a:r>
            <a:r>
              <a:rPr sz="2400" b="1" dirty="0">
                <a:solidFill>
                  <a:schemeClr val="accent2"/>
                </a:solidFill>
              </a:rPr>
              <a:t>Relationships</a:t>
            </a:r>
            <a:r>
              <a:rPr sz="2400" dirty="0"/>
              <a:t> take you further than grade notes</a:t>
            </a:r>
          </a:p>
          <a:p>
            <a:r>
              <a:rPr sz="2400" dirty="0"/>
              <a:t>- Stay </a:t>
            </a:r>
            <a:r>
              <a:rPr sz="2400" b="1" dirty="0">
                <a:solidFill>
                  <a:schemeClr val="accent2"/>
                </a:solidFill>
              </a:rPr>
              <a:t>humble</a:t>
            </a:r>
            <a:r>
              <a:rPr sz="2400" dirty="0"/>
              <a:t>, stay </a:t>
            </a:r>
            <a:r>
              <a:rPr sz="2400" b="1" dirty="0">
                <a:solidFill>
                  <a:schemeClr val="accent2"/>
                </a:solidFill>
              </a:rPr>
              <a:t>hungry</a:t>
            </a:r>
            <a:r>
              <a:rPr sz="2400" dirty="0"/>
              <a:t> — there's always someone better</a:t>
            </a:r>
          </a:p>
          <a:p>
            <a:r>
              <a:rPr sz="2400" dirty="0"/>
              <a:t>- Don't stay too long on the shore, don't dive too deep</a:t>
            </a:r>
          </a:p>
          <a:p>
            <a:r>
              <a:rPr sz="2400" dirty="0"/>
              <a:t>- </a:t>
            </a:r>
            <a:r>
              <a:rPr sz="2400" b="1" dirty="0">
                <a:solidFill>
                  <a:schemeClr val="accent2"/>
                </a:solidFill>
              </a:rPr>
              <a:t>Networking</a:t>
            </a:r>
            <a:r>
              <a:rPr sz="2400" dirty="0"/>
              <a:t>; knowledge without connections goes nowhere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for the Junior Job-Seeker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Senior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Everything to lose — especially if you stopped growing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THE SPECIALIZATION 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33632" y="2916936"/>
            <a:ext cx="4648200" cy="2785634"/>
          </a:xfrm>
        </p:spPr>
        <p:txBody>
          <a:bodyPr/>
          <a:lstStyle/>
          <a:p>
            <a:r>
              <a:rPr sz="1600" dirty="0"/>
              <a:t>He knows every trick. Every index, every execution plan, every edge case in a complex query. His craft is </a:t>
            </a:r>
            <a:r>
              <a:rPr sz="1600" b="1" dirty="0">
                <a:solidFill>
                  <a:schemeClr val="accent2"/>
                </a:solidFill>
              </a:rPr>
              <a:t>undeniable</a:t>
            </a:r>
            <a:r>
              <a:rPr sz="1600" dirty="0"/>
              <a:t>. </a:t>
            </a:r>
          </a:p>
          <a:p>
            <a:r>
              <a:rPr sz="1600" dirty="0"/>
              <a:t>But SQL Server is enterprise and monolithic — and microservices run on PostgreSQL, NoSQL, and lightweight stores. </a:t>
            </a:r>
            <a:r>
              <a:rPr sz="1600" b="1" dirty="0">
                <a:solidFill>
                  <a:schemeClr val="accent2"/>
                </a:solidFill>
              </a:rPr>
              <a:t>It's not that he is technically bad</a:t>
            </a:r>
            <a:r>
              <a:rPr sz="1600" dirty="0"/>
              <a:t>. </a:t>
            </a:r>
          </a:p>
          <a:p>
            <a:endParaRPr lang="en-US" sz="1600" dirty="0"/>
          </a:p>
          <a:p>
            <a:r>
              <a:rPr sz="1600" dirty="0"/>
              <a:t>He is architecturally </a:t>
            </a:r>
            <a:r>
              <a:rPr sz="1600" dirty="0" err="1"/>
              <a:t>unfashioned</a:t>
            </a:r>
            <a:r>
              <a:rPr sz="1600" dirty="0"/>
              <a:t>. Not the job's fault. Not the world's fault. </a:t>
            </a:r>
            <a:r>
              <a:rPr sz="1600" b="1" dirty="0">
                <a:solidFill>
                  <a:schemeClr val="accent2"/>
                </a:solidFill>
              </a:rPr>
              <a:t>A consequence of personal decisions made over years</a:t>
            </a:r>
            <a:r>
              <a:rPr sz="1600"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The SQL Server Master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Can tune any query — but microservices don't use SQL Server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E6B07D-339C-43AE-13AA-ECC81C2AFE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F01EA7-A2D8-965C-DA4A-BE3F4B56D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288" y="496044"/>
            <a:ext cx="1893652" cy="59610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THE COMFORT ZONE 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33632" y="2916936"/>
            <a:ext cx="4648200" cy="2195729"/>
          </a:xfrm>
        </p:spPr>
        <p:txBody>
          <a:bodyPr/>
          <a:lstStyle/>
          <a:p>
            <a:r>
              <a:rPr sz="1600" dirty="0"/>
              <a:t>Benefits, stability, prestige. Two decades later she feels stuck. The political game to get promoted isn't fair. No matter what technology she masters, she cannot decide, cannot experiment, cannot feel lost anymore. </a:t>
            </a:r>
          </a:p>
          <a:p>
            <a:endParaRPr lang="en-US" sz="1600" dirty="0"/>
          </a:p>
          <a:p>
            <a:r>
              <a:rPr sz="1600" dirty="0"/>
              <a:t>She became valuable — but only to that one company. Getting hired by an AI-first company is not possible. A ramp-down would be catastrophic.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The University Colleague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Joined the city's largest utility company — the dream job in the 90s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1661993"/>
          </a:xfrm>
        </p:spPr>
        <p:txBody>
          <a:bodyPr/>
          <a:lstStyle/>
          <a:p>
            <a:r>
              <a:rPr sz="5400" dirty="0"/>
              <a:t>Even working on a modern project makes you </a:t>
            </a:r>
            <a:r>
              <a:rPr sz="5400" dirty="0">
                <a:solidFill>
                  <a:schemeClr val="accent2"/>
                </a:solidFill>
              </a:rPr>
              <a:t>outdated</a:t>
            </a:r>
            <a:r>
              <a:rPr sz="5400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senior's blind spot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dirty="0"/>
              <a:t>Only exposure to diverse challenges builds breadth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1800" dirty="0"/>
              <a:t>- Projects take years to build, release, and mature</a:t>
            </a:r>
          </a:p>
          <a:p>
            <a:r>
              <a:rPr sz="1800" dirty="0"/>
              <a:t>- New technologies emerge during that time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Deep</a:t>
            </a:r>
            <a:r>
              <a:rPr sz="1800" dirty="0"/>
              <a:t> focus on delivery creates a </a:t>
            </a:r>
            <a:r>
              <a:rPr sz="1800" b="1" dirty="0">
                <a:solidFill>
                  <a:schemeClr val="accent2"/>
                </a:solidFill>
              </a:rPr>
              <a:t>narrow</a:t>
            </a:r>
            <a:r>
              <a:rPr sz="1800" dirty="0"/>
              <a:t> window on trends</a:t>
            </a:r>
          </a:p>
          <a:p>
            <a:r>
              <a:rPr sz="1800" dirty="0"/>
              <a:t>- The comfort of expertise breeds the illusion of being current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Years of experience ≠ M-shaped engineer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Seniors Become Outdated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DD0A2A-4A8A-F1D2-545C-8EBE999C1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8803" y="985496"/>
            <a:ext cx="5760693" cy="48870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492990"/>
          </a:xfrm>
        </p:spPr>
        <p:txBody>
          <a:bodyPr/>
          <a:lstStyle/>
          <a:p>
            <a:r>
              <a:rPr sz="5400" dirty="0"/>
              <a:t>Your professional career is a </a:t>
            </a:r>
            <a:r>
              <a:rPr sz="5400" dirty="0">
                <a:solidFill>
                  <a:schemeClr val="accent2"/>
                </a:solidFill>
              </a:rPr>
              <a:t>consequence</a:t>
            </a:r>
            <a:r>
              <a:rPr sz="5400" dirty="0"/>
              <a:t> of personal decisions made during years of work.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Ownership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400" dirty="0"/>
              <a:t>- </a:t>
            </a:r>
            <a:r>
              <a:rPr sz="2400" b="1" dirty="0">
                <a:solidFill>
                  <a:schemeClr val="accent2"/>
                </a:solidFill>
              </a:rPr>
              <a:t>AI layoffs</a:t>
            </a:r>
            <a:r>
              <a:rPr sz="2400" dirty="0"/>
              <a:t> are real — but so is </a:t>
            </a:r>
            <a:r>
              <a:rPr sz="2400" b="1" dirty="0">
                <a:solidFill>
                  <a:schemeClr val="accent2"/>
                </a:solidFill>
              </a:rPr>
              <a:t>regret</a:t>
            </a:r>
            <a:r>
              <a:rPr sz="2400" dirty="0"/>
              <a:t> after them</a:t>
            </a:r>
          </a:p>
          <a:p>
            <a:r>
              <a:rPr sz="2400" dirty="0"/>
              <a:t>- Seniors carry the *</a:t>
            </a:r>
            <a:r>
              <a:rPr sz="2400" b="1" dirty="0">
                <a:solidFill>
                  <a:schemeClr val="accent2"/>
                </a:solidFill>
              </a:rPr>
              <a:t>why</a:t>
            </a:r>
            <a:r>
              <a:rPr sz="2400" dirty="0"/>
              <a:t>* behind every system decision</a:t>
            </a:r>
          </a:p>
          <a:p>
            <a:r>
              <a:rPr sz="2400" dirty="0"/>
              <a:t>- Non-technical users don't know: feature flags, canary deploys, PRs, linters</a:t>
            </a:r>
          </a:p>
          <a:p>
            <a:r>
              <a:rPr sz="2400" dirty="0"/>
              <a:t>- A good senior </a:t>
            </a:r>
            <a:r>
              <a:rPr sz="2400" b="1" dirty="0">
                <a:solidFill>
                  <a:schemeClr val="accent2"/>
                </a:solidFill>
              </a:rPr>
              <a:t>directing AI</a:t>
            </a:r>
            <a:r>
              <a:rPr sz="2400" dirty="0"/>
              <a:t> is worth more than AI alone</a:t>
            </a:r>
          </a:p>
          <a:p>
            <a:r>
              <a:rPr sz="2400" dirty="0"/>
              <a:t>- Key value: AI innovations that bring measurable </a:t>
            </a:r>
            <a:r>
              <a:rPr sz="2400" b="1" dirty="0">
                <a:solidFill>
                  <a:schemeClr val="accent2"/>
                </a:solidFill>
              </a:rPr>
              <a:t>value</a:t>
            </a:r>
            <a:r>
              <a:rPr sz="2400" dirty="0"/>
              <a:t> to the company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 Seniors Being Replaced by AI?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New teams are expected to be </a:t>
            </a:r>
            <a:r>
              <a:rPr dirty="0">
                <a:solidFill>
                  <a:schemeClr val="accent2"/>
                </a:solidFill>
              </a:rPr>
              <a:t>smaller</a:t>
            </a:r>
            <a:r>
              <a:rPr dirty="0"/>
              <a:t>, but more </a:t>
            </a:r>
            <a:r>
              <a:rPr dirty="0">
                <a:solidFill>
                  <a:schemeClr val="accent2"/>
                </a:solidFill>
              </a:rPr>
              <a:t>productive</a:t>
            </a:r>
            <a:r>
              <a:rPr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AI augmentation model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F97D27-A4BF-6453-C8D1-A3D8E1E2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Senior M-Shaped Engineer has More Possibilities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616145-08D7-428C-D368-9230C3093C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EB0B88-60FA-118D-8FD3-0D7CD03E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996" y="1229097"/>
            <a:ext cx="5792008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75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8E54C-BB10-A81F-6645-C63D0BC254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3BE914-362E-2AE0-1D1D-82DB5A1B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1831430"/>
            <a:ext cx="10248900" cy="2954655"/>
          </a:xfrm>
        </p:spPr>
        <p:txBody>
          <a:bodyPr/>
          <a:lstStyle/>
          <a:p>
            <a:r>
              <a:rPr lang="en-US" sz="4800" dirty="0"/>
              <a:t>Years of experience don't necessarily make you an M-Shaped engineer, only the </a:t>
            </a:r>
            <a:r>
              <a:rPr lang="en-US" sz="4800" dirty="0">
                <a:solidFill>
                  <a:schemeClr val="accent2"/>
                </a:solidFill>
              </a:rPr>
              <a:t>exposure</a:t>
            </a:r>
            <a:r>
              <a:rPr lang="en-US" sz="4800" dirty="0"/>
              <a:t> to </a:t>
            </a:r>
            <a:r>
              <a:rPr lang="en-US" sz="4800" dirty="0">
                <a:solidFill>
                  <a:schemeClr val="accent2"/>
                </a:solidFill>
              </a:rPr>
              <a:t>diverse</a:t>
            </a:r>
            <a:r>
              <a:rPr lang="en-US" sz="4800" dirty="0"/>
              <a:t> technological experiences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8C6965-CC2E-114D-B2C0-176017DC95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3950" y="5327131"/>
            <a:ext cx="4554537" cy="50783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783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Keeping and augmenting people beats reducing them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1800" dirty="0"/>
              <a:t>- Option A: Lay off 500 — same output, lower cost</a:t>
            </a:r>
          </a:p>
          <a:p>
            <a:r>
              <a:rPr sz="1800" dirty="0"/>
              <a:t>- Option B: Keep 1000 + AI — double output, higher revenue</a:t>
            </a:r>
          </a:p>
          <a:p>
            <a:r>
              <a:rPr sz="1800" dirty="0"/>
              <a:t>- Option C: Do nothing — no gain, falling behind</a:t>
            </a:r>
          </a:p>
          <a:p>
            <a:pPr marL="285750" indent="-285750">
              <a:buFontTx/>
              <a:buChar char="-"/>
            </a:pPr>
            <a:endParaRPr sz="1800" dirty="0"/>
          </a:p>
          <a:p>
            <a:r>
              <a:rPr sz="1800" dirty="0"/>
              <a:t>- Speaking a language doesn't make you a great writer</a:t>
            </a:r>
          </a:p>
          <a:p>
            <a:r>
              <a:rPr sz="1800" dirty="0"/>
              <a:t>- AI codes it; the Senior ensures it doesn't break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Augment, Don't Replace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It's like self-parking cars. You still need to know how to park.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senior's responsibility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Balance Sheet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Neither side has earned a safe place yet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400" dirty="0"/>
              <a:t>✅ Cost-effective, high energy, fast AI adopters</a:t>
            </a:r>
          </a:p>
          <a:p>
            <a:r>
              <a:rPr sz="2400" dirty="0"/>
              <a:t>✅ No fear of asking obvious questions</a:t>
            </a:r>
          </a:p>
          <a:p>
            <a:r>
              <a:rPr sz="2400" dirty="0"/>
              <a:t>❌ Without Design Patterns knowledge, AI output is unmaintainable</a:t>
            </a:r>
          </a:p>
          <a:p>
            <a:r>
              <a:rPr sz="2400" dirty="0"/>
              <a:t>❌ Can't handle production pressure without scar tissue</a:t>
            </a:r>
          </a:p>
          <a:p>
            <a:r>
              <a:rPr sz="2400" dirty="0"/>
              <a:t>❌ Needs direction — even with AI doing the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Juniors in the AI Era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400" dirty="0"/>
              <a:t>✅ Battle-tested depth, architectural thinking, multiplier effect</a:t>
            </a:r>
          </a:p>
          <a:p>
            <a:r>
              <a:rPr sz="2400" dirty="0"/>
              <a:t>✅ Institutional memory — knows the *why* behind every decision</a:t>
            </a:r>
          </a:p>
          <a:p>
            <a:r>
              <a:rPr sz="2400" dirty="0"/>
              <a:t>❌ Risk of I-shape: deep but narrow in yesterday's stack</a:t>
            </a:r>
          </a:p>
          <a:p>
            <a:r>
              <a:rPr sz="2400" dirty="0"/>
              <a:t>❌ Resistance to change, complacency with learning</a:t>
            </a:r>
          </a:p>
          <a:p>
            <a:r>
              <a:rPr sz="2400" dirty="0"/>
              <a:t>❌ Overcaution as a blocker when teams need to move fast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Seniors in the AI Era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1661993"/>
          </a:xfrm>
        </p:spPr>
        <p:txBody>
          <a:bodyPr/>
          <a:lstStyle/>
          <a:p>
            <a:r>
              <a:rPr sz="5400" dirty="0"/>
              <a:t>An AI is a </a:t>
            </a:r>
            <a:r>
              <a:rPr sz="5400" dirty="0">
                <a:solidFill>
                  <a:schemeClr val="accent2"/>
                </a:solidFill>
              </a:rPr>
              <a:t>senior</a:t>
            </a:r>
            <a:r>
              <a:rPr sz="5400" dirty="0"/>
              <a:t> in every language and a </a:t>
            </a:r>
            <a:r>
              <a:rPr sz="5400" dirty="0">
                <a:solidFill>
                  <a:schemeClr val="accent2"/>
                </a:solidFill>
              </a:rPr>
              <a:t>junior</a:t>
            </a:r>
            <a:r>
              <a:rPr sz="5400" dirty="0"/>
              <a:t> in every codebase.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real AI limitation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2000" dirty="0"/>
              <a:t>- 166 microservices, 328 tables — only a senior explains *</a:t>
            </a:r>
            <a:r>
              <a:rPr sz="2000" b="1" dirty="0">
                <a:solidFill>
                  <a:schemeClr val="accent2"/>
                </a:solidFill>
              </a:rPr>
              <a:t>why</a:t>
            </a:r>
            <a:r>
              <a:rPr sz="2000" dirty="0"/>
              <a:t>*</a:t>
            </a:r>
          </a:p>
          <a:p>
            <a:r>
              <a:rPr sz="2000" dirty="0"/>
              <a:t>- AI learns from training and the codebase, not </a:t>
            </a:r>
            <a:r>
              <a:rPr sz="2000" b="1" dirty="0">
                <a:solidFill>
                  <a:schemeClr val="accent2"/>
                </a:solidFill>
              </a:rPr>
              <a:t>company history</a:t>
            </a:r>
          </a:p>
          <a:p>
            <a:r>
              <a:rPr sz="2000" dirty="0"/>
              <a:t>- Business context, team dynamics, past failures are </a:t>
            </a:r>
            <a:r>
              <a:rPr sz="2000" b="1" dirty="0">
                <a:solidFill>
                  <a:schemeClr val="accent2"/>
                </a:solidFill>
              </a:rPr>
              <a:t>invisible</a:t>
            </a:r>
            <a:r>
              <a:rPr sz="2000" dirty="0"/>
              <a:t> to AI</a:t>
            </a:r>
          </a:p>
          <a:p>
            <a:r>
              <a:rPr sz="2000" dirty="0"/>
              <a:t>- Customer understanding is the </a:t>
            </a:r>
            <a:r>
              <a:rPr sz="2000" b="1" dirty="0">
                <a:solidFill>
                  <a:schemeClr val="accent2"/>
                </a:solidFill>
              </a:rPr>
              <a:t>most critical</a:t>
            </a:r>
            <a:r>
              <a:rPr sz="2000" dirty="0"/>
              <a:t> task in any project</a:t>
            </a:r>
          </a:p>
          <a:p>
            <a:r>
              <a:rPr sz="2000" dirty="0"/>
              <a:t>- Non-technical users lack the controls that keep systems stable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Cannot Replace (Yet)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Human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foundation neither juniors nor seniors can skip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A PERSONAL STORY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33632" y="2916936"/>
            <a:ext cx="4648200" cy="3119059"/>
          </a:xfrm>
        </p:spPr>
        <p:txBody>
          <a:bodyPr/>
          <a:lstStyle/>
          <a:p>
            <a:r>
              <a:rPr sz="1600" dirty="0"/>
              <a:t>The certification was real. The skills were not. Little charisma, no team collaboration, ivory-tower mentality. Brilliant at presentations but no business communication, no storytelling. </a:t>
            </a:r>
          </a:p>
          <a:p>
            <a:endParaRPr sz="1600" dirty="0"/>
          </a:p>
          <a:p>
            <a:r>
              <a:rPr sz="1600" dirty="0"/>
              <a:t>Anxiety sent him to the emergency room before every production release. </a:t>
            </a:r>
          </a:p>
          <a:p>
            <a:endParaRPr sz="1600" dirty="0"/>
          </a:p>
          <a:p>
            <a:r>
              <a:rPr sz="1600" dirty="0"/>
              <a:t>Can you imagine an architect who struggles to make a decision? Therapy saved him. And so did being honest about what he lacked.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80733C7-F3B1-A766-AB89-249768041D99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4" t="-54839" r="7071" b="-54839"/>
          <a:stretch>
            <a:fillRect/>
          </a:stretch>
        </p:blipFill>
        <p:spPr>
          <a:xfrm>
            <a:off x="6663447" y="379476"/>
            <a:ext cx="5097294" cy="6099048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The Architect with Zero EQ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Java Enterprise Architect certified — but missing everything that matters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The layer beneath every technical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THINKING</a:t>
            </a:r>
            <a:r>
              <a:rPr sz="1800" dirty="0"/>
              <a:t>: Strategic problem solving, decision making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COMMUNICATION</a:t>
            </a:r>
            <a:r>
              <a:rPr sz="1800" dirty="0"/>
              <a:t>: Storytelling, presentation, business communication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COLLABORATION</a:t>
            </a:r>
            <a:r>
              <a:rPr sz="1800" dirty="0"/>
              <a:t>: Team, stakeholder, diplomacy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INFLUENCING OTHERS</a:t>
            </a:r>
            <a:r>
              <a:rPr sz="1800" dirty="0"/>
              <a:t>: Leadership, persuasion, ownership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MULTIPLY</a:t>
            </a:r>
            <a:r>
              <a:rPr sz="1800" dirty="0"/>
              <a:t>: Mentoring, coaching, knowledge sharing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Human Skills Foundation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2492990"/>
          </a:xfrm>
        </p:spPr>
        <p:txBody>
          <a:bodyPr/>
          <a:lstStyle/>
          <a:p>
            <a:r>
              <a:rPr sz="5400" dirty="0">
                <a:solidFill>
                  <a:schemeClr val="accent2"/>
                </a:solidFill>
              </a:rPr>
              <a:t>Without</a:t>
            </a:r>
            <a:r>
              <a:rPr sz="5400" dirty="0"/>
              <a:t> human skills, anyone could be </a:t>
            </a:r>
            <a:r>
              <a:rPr sz="5400" dirty="0">
                <a:solidFill>
                  <a:schemeClr val="accent2"/>
                </a:solidFill>
              </a:rPr>
              <a:t>replaced</a:t>
            </a:r>
            <a:r>
              <a:rPr sz="5400" dirty="0"/>
              <a:t> by AI — even the M-Shaped.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The real differentiator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Technical shape + soft skills + AI as a multiplier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7"/>
          </p:nvPr>
        </p:nvSpPr>
        <p:spPr>
          <a:xfrm>
            <a:off x="633632" y="2252472"/>
            <a:ext cx="5309968" cy="1136904"/>
          </a:xfrm>
        </p:spPr>
        <p:txBody>
          <a:bodyPr>
            <a:noAutofit/>
          </a:bodyPr>
          <a:lstStyle/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M-shaped</a:t>
            </a:r>
            <a:r>
              <a:rPr sz="1800" dirty="0"/>
              <a:t> breadth: multiple deep specializations across domains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AI fluency</a:t>
            </a:r>
            <a:r>
              <a:rPr sz="1800" dirty="0"/>
              <a:t>: directing, validating, and catching AI failures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Human skills</a:t>
            </a:r>
            <a:r>
              <a:rPr sz="1800" dirty="0"/>
              <a:t> foundation: the layer AI cannot emulate</a:t>
            </a:r>
          </a:p>
          <a:p>
            <a:r>
              <a:rPr lang="en-US" sz="1800" dirty="0"/>
              <a:t>- </a:t>
            </a:r>
            <a:r>
              <a:rPr sz="1800" dirty="0"/>
              <a:t>Continuous exposure to </a:t>
            </a:r>
            <a:r>
              <a:rPr sz="1800" b="1" dirty="0">
                <a:solidFill>
                  <a:schemeClr val="accent2"/>
                </a:solidFill>
              </a:rPr>
              <a:t>new challenges</a:t>
            </a:r>
            <a:r>
              <a:rPr sz="1800" dirty="0"/>
              <a:t> — by personal choice</a:t>
            </a:r>
          </a:p>
          <a:p>
            <a:r>
              <a:rPr sz="1800" dirty="0"/>
              <a:t>- </a:t>
            </a:r>
            <a:r>
              <a:rPr sz="1800" b="1" dirty="0">
                <a:solidFill>
                  <a:schemeClr val="accent2"/>
                </a:solidFill>
              </a:rPr>
              <a:t>Building relationships</a:t>
            </a:r>
            <a:r>
              <a:rPr sz="1800" dirty="0"/>
              <a:t>, not hiding behind the Team Lead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Will Actually Stand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2287BB-F30B-BE3B-87E5-0F1531A52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323" y="82015"/>
            <a:ext cx="6096851" cy="67732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3950" y="1762728"/>
            <a:ext cx="10248900" cy="1661993"/>
          </a:xfrm>
        </p:spPr>
        <p:txBody>
          <a:bodyPr/>
          <a:lstStyle/>
          <a:p>
            <a:r>
              <a:rPr sz="5400" dirty="0"/>
              <a:t>The era of the </a:t>
            </a:r>
            <a:r>
              <a:rPr sz="5400" dirty="0">
                <a:solidFill>
                  <a:schemeClr val="accent2"/>
                </a:solidFill>
              </a:rPr>
              <a:t>geek</a:t>
            </a:r>
            <a:r>
              <a:rPr sz="5400" dirty="0"/>
              <a:t> in a dark room is </a:t>
            </a:r>
            <a:r>
              <a:rPr sz="5400" dirty="0">
                <a:solidFill>
                  <a:schemeClr val="accent2"/>
                </a:solidFill>
              </a:rPr>
              <a:t>gone</a:t>
            </a:r>
            <a:r>
              <a:rPr sz="5400" dirty="0"/>
              <a:t>. Go find the next story.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dirty="0"/>
              <a:t>The call to action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Edgar Alvarez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Head of Core Engineering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edgar_alvarez1@epam.com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AM Master Dark 2023.1">
  <a:themeElements>
    <a:clrScheme name="EPAM Dark Palette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F6FF"/>
      </a:accent2>
      <a:accent3>
        <a:srgbClr val="B896FF"/>
      </a:accent3>
      <a:accent4>
        <a:srgbClr val="7BA8FF"/>
      </a:accent4>
      <a:accent5>
        <a:srgbClr val="418DFF"/>
      </a:accent5>
      <a:accent6>
        <a:srgbClr val="00F3AB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28E1D5709B20479E02E4DACF859060" ma:contentTypeVersion="13" ma:contentTypeDescription="Create a new document." ma:contentTypeScope="" ma:versionID="717510ec029f2739c3ef846a9dd7aa34">
  <xsd:schema xmlns:xsd="http://www.w3.org/2001/XMLSchema" xmlns:xs="http://www.w3.org/2001/XMLSchema" xmlns:p="http://schemas.microsoft.com/office/2006/metadata/properties" xmlns:ns2="32ffb8b9-b7fc-4aab-9873-53396b75472c" xmlns:ns3="8329520d-12ec-42e4-b043-269816a91755" targetNamespace="http://schemas.microsoft.com/office/2006/metadata/properties" ma:root="true" ma:fieldsID="2de90ad08931cd3d9fe339940b563454" ns2:_="" ns3:_="">
    <xsd:import namespace="32ffb8b9-b7fc-4aab-9873-53396b75472c"/>
    <xsd:import namespace="8329520d-12ec-42e4-b043-269816a9175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fb8b9-b7fc-4aab-9873-53396b75472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29520d-12ec-42e4-b043-269816a9175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c8d86b8-cecb-4421-b40e-297fd8a3250e}" ma:internalName="TaxCatchAll" ma:showField="CatchAllData" ma:web="8329520d-12ec-42e4-b043-269816a917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BFF0A0-C01F-42F9-95E8-72F7C5B69B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fb8b9-b7fc-4aab-9873-53396b75472c"/>
    <ds:schemaRef ds:uri="8329520d-12ec-42e4-b043-269816a917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73E462-AB22-4D40-9ECA-081A34A40D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3064</TotalTime>
  <Words>1430</Words>
  <Application>Microsoft Office PowerPoint</Application>
  <PresentationFormat>Widescreen</PresentationFormat>
  <Paragraphs>159</Paragraphs>
  <Slides>40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Human Sans</vt:lpstr>
      <vt:lpstr>EPAM Master Dark 2023.1</vt:lpstr>
      <vt:lpstr>PowerPoint Presentation</vt:lpstr>
      <vt:lpstr>Contents</vt:lpstr>
      <vt:lpstr>Both stared at the same AI revolution and felt the same cold wind.</vt:lpstr>
      <vt:lpstr>The Engineer Shapes</vt:lpstr>
      <vt:lpstr>PowerPoint Presentation</vt:lpstr>
      <vt:lpstr>PowerPoint Presentation</vt:lpstr>
      <vt:lpstr>The Junior</vt:lpstr>
      <vt:lpstr>PowerPoint Presentation</vt:lpstr>
      <vt:lpstr>The University gives you the confidence the real world will destroy in the first week.</vt:lpstr>
      <vt:lpstr>The Junior's Shape Evolution</vt:lpstr>
      <vt:lpstr>The Traditional Junior Role</vt:lpstr>
      <vt:lpstr>Even if AI does the repetitive stuff, someone has to point it in the right direction.</vt:lpstr>
      <vt:lpstr>Can a Junior Get a Job Today?</vt:lpstr>
      <vt:lpstr>The bar has been raised. The single-language quiet junior is not enough anymore.</vt:lpstr>
      <vt:lpstr>Don't learn how to code — learn how to tell the machine what to code.</vt:lpstr>
      <vt:lpstr>Lessons for the Junior Job-Seeker</vt:lpstr>
      <vt:lpstr>The Senior</vt:lpstr>
      <vt:lpstr>PowerPoint Presentation</vt:lpstr>
      <vt:lpstr>PowerPoint Presentation</vt:lpstr>
      <vt:lpstr>Even working on a modern project makes you outdated.</vt:lpstr>
      <vt:lpstr>Why Seniors Become Outdated</vt:lpstr>
      <vt:lpstr>Your professional career is a consequence of personal decisions made during years of work.</vt:lpstr>
      <vt:lpstr>Are Seniors Being Replaced by AI?</vt:lpstr>
      <vt:lpstr>New teams are expected to be smaller, but more productive.</vt:lpstr>
      <vt:lpstr>Senior M-Shaped Engineer has More Possibilities</vt:lpstr>
      <vt:lpstr>Years of experience don't necessarily make you an M-Shaped engineer, only the exposure to diverse technological experiences</vt:lpstr>
      <vt:lpstr>Augment, Don't Replace</vt:lpstr>
      <vt:lpstr>It's like self-parking cars. You still need to know how to park.</vt:lpstr>
      <vt:lpstr>The Balance Sheet</vt:lpstr>
      <vt:lpstr>Juniors in the AI Era</vt:lpstr>
      <vt:lpstr>Seniors in the AI Era</vt:lpstr>
      <vt:lpstr>An AI is a senior in every language and a junior in every codebase.</vt:lpstr>
      <vt:lpstr>What AI Cannot Replace (Yet)</vt:lpstr>
      <vt:lpstr>The Human Skills</vt:lpstr>
      <vt:lpstr>PowerPoint Presentation</vt:lpstr>
      <vt:lpstr>The Human Skills Foundation</vt:lpstr>
      <vt:lpstr>Without human skills, anyone could be replaced by AI — even the M-Shaped.</vt:lpstr>
      <vt:lpstr>Who Will Actually Stand</vt:lpstr>
      <vt:lpstr>The era of the geek in a dark room is gone. Go find the next story.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Edgar Alvarez1</cp:lastModifiedBy>
  <cp:revision>18</cp:revision>
  <dcterms:created xsi:type="dcterms:W3CDTF">2020-10-26T14:33:58Z</dcterms:created>
  <dcterms:modified xsi:type="dcterms:W3CDTF">2026-05-27T15:06:07Z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2023-03-14T21:10:24Z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2c67b1d1-7390-4dc7-8d39-72425cfc121d</vt:lpwstr>
  </property>
  <property fmtid="{D5CDD505-2E9C-101B-9397-08002B2CF9AE}" pid="8" name="MSIP_Label_2a535040-0af2-483f-adc3-a132c21e3e2b_ContentBits">
    <vt:lpwstr>0</vt:lpwstr>
  </property>
</Properties>
</file>